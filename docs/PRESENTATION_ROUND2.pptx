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15_12_junction_cctv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SECOND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From a system that works to a business that 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490"/>
                </a:solidFill>
                <a:latin typeface="Segoe UI"/>
              </a:rPr>
              <a:t>AI Smart Traffic Intelligence Platform  -  how it gets onto Sri Lanka's roads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Team Three Hacks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Startup Innovation Competition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WHAT THIS DECK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You asked us seven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10652760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002536"/>
            <a:ext cx="87288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The question you put to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3574" y="2002536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Answered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95728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478024"/>
            <a:ext cx="87288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Who is the customer, and how do you sell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3574" y="2478024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71216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953512"/>
            <a:ext cx="87288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connect with the Sri Lanka Police?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3574" y="2953512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4, 5, 6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46704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429000"/>
            <a:ext cx="87288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At scale, where does the zone data come from?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3574" y="3429000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7, 8, 9, 10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22192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904488"/>
            <a:ext cx="87288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import data from existing CCTV?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3574" y="3904488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297680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379976"/>
            <a:ext cx="87288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Revenue model - your cost, your earnings from one province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3574" y="4379976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12, 13, 14, 15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773168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855464"/>
            <a:ext cx="87288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SWOT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3574" y="4855464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248656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330952"/>
            <a:ext cx="87288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Real-world implementation, and what will go wrong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3574" y="5330952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18, 19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have not re-pitched the technology. You already said it works. This is how it reaches a 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CUSTOMER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Who benefits is not who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1918" y="1956815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5525" y="1956815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Why they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3574" y="1956815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50007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32303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councils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1918" y="2432303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Commissioner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5525" y="2432303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Own CCTV, get no value from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3574" y="2432303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1-3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25495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07791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Sri Lanka Police -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1918" y="2907791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Ministry of Public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5525" y="2907791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Manpower gap; needs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3574" y="2907791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12-24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00983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383279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RDA / Expressways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1918" y="3383279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Expressway 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5525" y="3383279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Speed enforcement already budgeted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3574" y="3383279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6-12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776471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858767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fleets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1918" y="3858767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Fleet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5525" y="3858767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Insurance, liability, driver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3574" y="3858767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2-6 weeks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251959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334255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1918" y="4334255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Head of Motor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5525" y="4334255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Better risk pricing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3574" y="4334255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3-6 months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727447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809743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Campuses, ports, BOI zones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1918" y="4809743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Facilities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5525" y="4809743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roads - no legal complexity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3574" y="4809743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2-6 weeks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02935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5285231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Donor programmes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61918" y="5285231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Programme manager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5525" y="5285231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Road-safety targets with money attached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3574" y="5285231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6-12 months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The police are the biggest customer and the slowest customer. We cannot survive two years of procurement on no revenue - so we run two tracks.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GETTING TO THE SRI LANKA POLICE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We do not ask for a contract. We climb a ladder.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52760" cy="1042415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Segoe UI"/>
              </a:rPr>
              <a:t>MONTH 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837943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Give away evidence, not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231136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Free 30-day road-safety audit at one junction for one council. We issue ZERO fines. They get data they have never had. Nobody has to be brave to say yes.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9504"/>
            <a:ext cx="10652760" cy="1042415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0837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Segoe UI"/>
              </a:rPr>
              <a:t>MONTH 3-6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71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Get a named champion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3649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Take that report to the National Council for Road Safety and Police Traffic HQ. Ask for one thing that costs them nothing: a letter of support.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23360"/>
            <a:ext cx="10652760" cy="1042415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422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Segoe UI"/>
              </a:rPr>
              <a:t>MONTH 6-12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10565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Supervised enforcement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498848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One division. Cameras we control. Every challan approved by an officer. We publish officer-time saved and the fall in the violation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57216"/>
            <a:ext cx="10652760" cy="1042415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76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Segoe UI"/>
              </a:rPr>
              <a:t>MONTH 12-24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23951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Procurement - through a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632704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Sub-contract under an integrator who already holds government vendor registration. Turns a two-year procurement problem into a two-month partnership.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Each rung is something the other side can say yes to without spending money or taking a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THE DESIGN DECISION THAT MAKES ENFORCEMENT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AI proposes. A police officer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F172A"/>
                </a:solidFill>
                <a:latin typeface="Segoe UI"/>
              </a:rPr>
              <a:t>Every challan appears in an officer's review queue with the photograph, the rule and the confidence. It becomes a fine only when a human presses approve.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074920"/>
            <a:ext cx="251460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5184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Evidence Act No. 14 of 1995 - a human is accountable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5074920"/>
            <a:ext cx="251460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5184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No citizen is fined by a machine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5074920"/>
            <a:ext cx="251460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5184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Officer rejections measure our false-positive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5074920"/>
            <a:ext cx="251460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5184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Politics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Kills the 'a robot fined me' headline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HOW WE STAY ALIVE FOR TWO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private track funds the government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516636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1214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GOVERNMENT TRACK  -  the prize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6974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Councils, Police, RDA, expressways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12-24 month cycle, tenders, bonds, audited accounts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Buys legitimacy, scale and the reference every other market wants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Pays us in year 2, not year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20240"/>
            <a:ext cx="516636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1214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803D"/>
                </a:solidFill>
                <a:latin typeface="Segoe UI"/>
              </a:rPr>
              <a:t>PRIVATE TRACK  -  the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6974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Fleets, universities, ports, factories, BOI zones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Private roads: no procurement, no legal complexity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A bus company can sign in a week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Pays us in month 2, and produces the accuracy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349240"/>
            <a:ext cx="1065276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4864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Highest-leverage channel:</a:t>
            </a:r>
            <a:r>
              <a:rPr sz="1400" b="0">
                <a:solidFill>
                  <a:srgbClr val="0F172A"/>
                </a:solidFill>
                <a:latin typeface="Segoe UI"/>
              </a:rPr>
              <a:t> get one motor insurer to discount premiums for fleets running our driver scorecard. Their agents then sell us to every fleet in their book, and we pay nothing for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QUESTION YOU PRESSED HARDEST ON - AND YOU WERE RIGHT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Where the zone data comes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Today a human opens each clip, clicks four corners of the road and types the real distance. That is fine for five cameras. It is impossible for five thousand.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The answer starts with something our demo currently hides: there are TWO kinds of data, and they scale completely differently.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49039"/>
            <a:ext cx="10652760" cy="71323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3831335"/>
            <a:ext cx="361553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Kind of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0249" y="3831335"/>
            <a:ext cx="27633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3022" y="3831335"/>
            <a:ext cx="212415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Per camera?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66629" y="3831335"/>
            <a:ext cx="127193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62271"/>
            <a:ext cx="10652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544567"/>
            <a:ext cx="361553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Camera geometry - where the ground plane sits in THIS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249" y="4544567"/>
            <a:ext cx="27633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4-point homography, metres per pixel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3022" y="4544567"/>
            <a:ext cx="212415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Yes. Unavoidable.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6629" y="4544567"/>
            <a:ext cx="127193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Minutes,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75503"/>
            <a:ext cx="10652760" cy="71323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5257799"/>
            <a:ext cx="361553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World knowledge - what the law says about this piece of road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0249" y="5257799"/>
            <a:ext cx="27633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Speed limit, no-parking, one-way, stop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022" y="5257799"/>
            <a:ext cx="212415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No. It belongs to the map.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66629" y="5257799"/>
            <a:ext cx="127193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Once, nationally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Our demo mixes the two, which makes the job look a hundred times bigger than it is. Separating them is the whole 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FOUR MINUTES, THEN NEVER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Step one: geo-register each camera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Segoe UI"/>
              </a:rPr>
              <a:t>The operator drags four points on the camera image and the matching four on a satellite map. That one act then delivers, automatically: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Metres per pixel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352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speed measurement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51460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Stop-line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9352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red-light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6136" y="251460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Legal direction of travel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9352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wrong-way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7472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No-parking polygons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953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illegal parking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347472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School zones, bus halts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8953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context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347472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Crossings, junction geometry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38953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future rules, free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1772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45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4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309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per camera, once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61772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745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67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3309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for 1,000 cameras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61772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4745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2 people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3309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2 weeks, a province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461772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4745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Auto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3309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re-flags if moved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If a camera is knocked or moved, the static background changes - we detect it, stop enforcing the geometric rules and ask to be recalibrated.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WE DO NOT CREATE THIS DATA - IT ALREADY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Step two: import the world once, nationally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5120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4973" y="1956815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What it gives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0519" y="1956815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holds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86583"/>
            <a:ext cx="10652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68879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RDA road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4973" y="2468879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Road class and centreline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0519" y="2468879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Government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98647"/>
            <a:ext cx="1065276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980943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Survey Dept / provincial 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4973" y="2980943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Built-up-area boundaries = the legal 50 km/h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0519" y="2980943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Government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10711"/>
            <a:ext cx="10652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493007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Gazetted traffic schemes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973" y="3493007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No-parking, one-way, bus halts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0519" y="3493007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councils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22775"/>
            <a:ext cx="1065276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005071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OpenStreetMap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4973" y="4005071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maxspeed, oneway, crossings, schools - urban coverage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519" y="4005071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34839"/>
            <a:ext cx="10652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517135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Motor Traffic Act defaults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4973" y="4517135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Where nothing is known: the statutory limit for that road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0519" y="4517135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The law itself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946903"/>
            <a:ext cx="1065276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5029199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Learned proposals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4973" y="5029199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'95% of vehicles here do 38-46 km/h - is the limit right?'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0519" y="5029199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Our own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235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The councils' schemes are paper and PDF today. Digitising Colombo's is a few weeks for one person - once, and then never again.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264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Learned rules are PROPOSED for a human to approve. They are never auto-enforced.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WHY THE DATA PROBLEM DOES NOT BLOCK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And where we still do not know, we refuse to guess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6537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8028" y="186537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What it needs from the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8298" y="186537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Live on day one?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23113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 Helmet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8028" y="223113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8298" y="223113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1460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59689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Triple Riding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8028" y="259689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8298" y="259689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88036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96265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Wheelie / stunt riding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8028" y="296265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8298" y="296265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4612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32841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Mobile Phone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8028" y="332841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8298" y="332841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1188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9417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 Rest Break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028" y="369417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 - time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8298" y="369417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97764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05993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 Seatbelt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8028" y="405993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 (needs a working detector)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8298" y="405993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model pending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34340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" y="442569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Wrong 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8028" y="442569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legal direction of travel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8298" y="442569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after geo-registration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70916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79145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Over Speeding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8028" y="479145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ground plane + posted limit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8298" y="479145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after geo-registration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07492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" y="515721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Illegal Parking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8028" y="515721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no-parking polygon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8298" y="515721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after zone import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44068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" y="552297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Red Light Jump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8028" y="552297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stop line + signal state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8298" y="552297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after geo-registration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9436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Six of ten rules work on day one with zero map data. We deploy immediately and enrich over weeks - the customer sees value in week one, not month six.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CCTV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Cameras that are already on the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52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Segoe UI"/>
              </a:rPr>
              <a:t>Practically every installed camera and NVR speaks </a:t>
            </a:r>
            <a:r>
              <a:rPr sz="1500" b="1">
                <a:solidFill>
                  <a:srgbClr val="0F172A"/>
                </a:solidFill>
                <a:latin typeface="Segoe UI"/>
              </a:rPr>
              <a:t>ONVIF / RTSP</a:t>
            </a:r>
            <a:r>
              <a:rPr sz="1500" b="0">
                <a:solidFill>
                  <a:srgbClr val="0F172A"/>
                </a:solidFill>
                <a:latin typeface="Segoe UI"/>
              </a:rPr>
              <a:t>. We pull a stream. No firmware change, no rewiring, nothing new on the pole.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10652760" cy="58521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505456"/>
            <a:ext cx="308289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7611" y="2505456"/>
            <a:ext cx="48938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Network load for 1,000 cameras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0936" y="2505456"/>
            <a:ext cx="2017623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090672"/>
            <a:ext cx="308289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Send every video stream to a central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7611" y="3090672"/>
            <a:ext cx="48938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1,000 x 2 Mbps = 2 Gbps sustained, ~21 TB per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0936" y="3090672"/>
            <a:ext cx="2017623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Impossible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93592"/>
            <a:ext cx="10652760" cy="5852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675888"/>
            <a:ext cx="308289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Detect at the edge, send EVENTS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7611" y="3675888"/>
            <a:ext cx="48938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 challan is ~250 KB. ~50 GB/day, bursty - about 5 Mbps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0936" y="3675888"/>
            <a:ext cx="2017623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Runs on what exists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15968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A 400x reduction in bandwidth - the difference between deployable and not.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61772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365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One box, four cameras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Sits in the existing cabinet. Runs on CPU today.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1688" y="461772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7365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Survives the link dropping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Events queue locally and sync when it returns.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6136" y="461772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6" y="47365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We keep the frame, not the 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90-day retention, then auto-purge. PDPA by design.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521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Honest caveat: most municipal CCTV was installed for theft, not enforcement. Expect ~40% of any estate to be usable without repositioning - we survey and say so before anyone signs.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PRICE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you subscribe or licence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4297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9280" y="1911096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it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8298" y="1911096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58568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340864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9280" y="2340864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First contact - a council or division. 30-day report, no fines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8298" y="2340864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88336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770632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Enforce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9280" y="2770632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Per camera. All rules, dashboard, officer review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8298" y="2770632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3,500 / camera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18104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200400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Enforce + ANPR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9280" y="3200400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Adds plate recognition, owner lookup, PDF challan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8298" y="3200400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5,500 / camera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47872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630168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Fleet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9280" y="3630168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Bus, logistics, plantation, courier. Driver scorecards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8298" y="3630168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25,000 / month (25 vehicles)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977640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59936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Provincial Licence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9280" y="4059936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Ministry / Police HQ. Unlimited cameras, ON-PREMISE, SLA, escrow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8298" y="4059936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12,000,000 / province / year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407408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489704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9280" y="4489704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Insurers, RDA, researchers. Anonymised blackspot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8298" y="4489704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2,000,000 / year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837176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" y="4919472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Site Activation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9280" y="4919472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One-time: survey, geo-registration, zone import,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8298" y="4919472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45,000 / camera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66944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5349240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Edge appliance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9280" y="5349240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One-time: hardware at cost + 15%, 4 cameras, 3-yr warranty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8298" y="5349240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138,000 / box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8978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The police will not put criminal evidence in someone else's cloud - and they should not. The on-premise Provincial Licence is our highest-margin product, not a compromise.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OBVIOUS ANSWER, AND WHY IT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we will NOT do: take a share of the fines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06527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9397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It is probably not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Fines under the Motor Traffic Act are public revenue. Assigning a private slice of them is a constitutional and audit problem.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106527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2841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It creates exactly the wrong incentive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49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A company paid per fine wants more fines. Our goal is FEWER violations - under revenue share, success would bankrupt 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34840"/>
            <a:ext cx="106527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6285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It is politically fatal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'Startup profits from fining Sri Lankan motorists' is a headline that ends the company in a week.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521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Subscription pays us for coverage and deterrence - which is the outcome the customer actually wants. We think this is the mature part of our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We price against the cost of a constable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1065276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0025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888028" y="20025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One traffic constable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9967" y="20025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One camera on our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597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Cost per month, all-in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8028" y="24597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~LKR 100,000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9967" y="24597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LKR 3,500 + LKR 1,250 amortised 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3464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9169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Hours covered per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8028" y="29169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8 - one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9967" y="29169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9184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3741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 cover one point 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8028" y="33741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 officers = ~LKR 300,000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9967" y="33741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LKR 5,750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74904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8313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Rules watched at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8028" y="38313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2-3 realistically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967" y="38313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20624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2885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Photographic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028" y="42885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9967" y="42885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Every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Roughly 50x cheaper per point-hour of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Segoe UI"/>
              </a:rPr>
              <a:t>And we are not replacing officers. We are telling them where to stand. That framing matters when the buyer has a union and a manpower shortage.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1722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Gross margin at LKR 3,500: about 74%.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WESTERN PROVINCE  -  MODELLED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One province, three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42062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01083" y="1911096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1  - 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482" y="1911096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2  -  own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7881" y="1911096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3  -  expand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49424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31720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Cameras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3" y="2331720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482" y="2331720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881" y="2331720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2,200 (4 provinces)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670048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752344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Subscriptions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1083" y="2752344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2.9M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482" y="2752344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32.4M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881" y="2752344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118.8M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090672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172968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Site activation +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1083" y="3172968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482" y="3172968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23.4M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881" y="3172968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72.0M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11296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93592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Provincial licences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1083" y="3593592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482" y="3593592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12.0M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881" y="3593592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48.0M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931920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014216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Fleet +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1083" y="4014216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1.6M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482" y="4014216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14.0M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881" y="4014216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63.0M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352544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434840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TOTAL 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1083" y="4434840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10.8M  (~$36k)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482" y="4434840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81.8M  (~$273k)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881" y="4434840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301.8M  (~$1.0M)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773168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4855464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Total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1083" y="4855464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21.6M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482" y="4855464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64.0M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07881" y="4855464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193792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" y="5276088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NET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01083" y="5276088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-10.8M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4482" y="5276088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+17.8M  BREAKEVEN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7881" y="5276088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7150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All figures LKR. Assumed LKR 300 = USD 1. These are our own modelled assumptions with the working shown - not published facts.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144768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Year 1's deficit is the ask: LKR 15M (~USD 50,000) for 18 months of runway.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WE WILL SAY IT BEFORE YOU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honest ceiling - and why that is 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0F172A"/>
                </a:solidFill>
                <a:latin typeface="Segoe UI"/>
              </a:rPr>
              <a:t>Fully saturated, Sri Lanka is about 5,000 enforcement cameras, 9 provincial licences and a few hundred fleets. That is roughly </a:t>
            </a:r>
            <a:r>
              <a:rPr sz="1550" b="1">
                <a:solidFill>
                  <a:srgbClr val="0F172A"/>
                </a:solidFill>
                <a:latin typeface="Segoe UI"/>
              </a:rPr>
              <a:t>LKR 480M - about USD 1.6M of annual recurring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B45309"/>
                </a:solidFill>
                <a:latin typeface="Segoe UI"/>
              </a:rPr>
              <a:t>Sri Lanka alone is not a big enough market to build a big company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E7490"/>
                </a:solidFill>
                <a:latin typeface="Segoe UI"/>
              </a:rPr>
              <a:t>It is exactly the right market to prove one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52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The product transfers unchanged to Bangladesh, Nepal, Pakistan, Vietnam, Kenya, Nigeria, Tanzania.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Same traffic mix - motorcycles, three-wheelers, mixed lanes - which is precisely what Western products are NOT built for.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Worse death rates, and donor money already attached to fixing them.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Sri Lanka is the reference customer, not the whole business.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AN HONEST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SWOT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Segoe U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1343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It exists - 10 rules on live video, 85 tests, our own evidence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Built for Sri Lankan traffic: bikes, three-wheelers, mixed lanes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It refuses to guess - no calibration, no speed reading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CPU-capable and edge-first: cheap to run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Local team, local cost base, same-afternoon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8308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1343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revenue, no reference customer, no registered company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measured accuracy figure yet - a court will ask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Seatbelt rule disabled: the model we got is unusable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Three part-time students; no procurement or legal experience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depend on camera quality we do not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6052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885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9087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~3,000 deaths a year; enforcement is still manual and spot-based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Existing municipal CCTV is a sunk asset we can activate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PDPA 2022 compliance is a moat foreign vendors handle badly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Donor funding needs no police budget line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Fleet and insurance markets need no government sale at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16052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885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9087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Hikvision / Dahua / Huawei bundling ANPR free with hardware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Tenders written around an incumbent, or never issued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Political change resetting our sponsor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One high-profile false positive destroying trust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are students - graduation is a continuity 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it actually reaches a road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52760" cy="521207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37944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642" y="1837944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390" y="1837944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What we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660" y="1837944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Done 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76855"/>
            <a:ext cx="10652760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59151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0  Harden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6642" y="2359151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0-3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390" y="2359151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Incorporate. Build a labelled Sri Lankan ground-truth set and publish real accuracy. Officer review queue. PDPA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660" y="2359151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can state an accuracy number and defend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798062"/>
            <a:ext cx="10652760" cy="521207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880358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1 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6642" y="2880358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2-5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390" y="2880358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Free 30-day audit, 2 junctions, 1 council. No fines.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660" y="2880358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 signed report with a council logo on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19269"/>
            <a:ext cx="10652760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401565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2  Champion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6642" y="3401565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4-7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390" y="3401565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Take the report to NCRS and Police Traffic HQ.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660" y="3401565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 letter of support in hand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840476"/>
            <a:ext cx="10652760" cy="521207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922772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3 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6642" y="3922772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6-12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390" y="3922772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20-40 cameras, one division, every challan human-approved.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5660" y="3922772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Disputes upheld near zero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361683"/>
            <a:ext cx="10652760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443979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4  Commercial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6642" y="4443979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3-12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390" y="4443979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In parallel: 8 fleets, 2 campuses or ports.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5660" y="4443979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Revenue covers half the burn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882890"/>
            <a:ext cx="10652760" cy="521207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965186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5  Province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6642" y="4965186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12-24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5390" y="4965186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Western Province at 600 cameras. Integrate DMT and e-payment.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5660" y="4965186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Breakeven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404097"/>
            <a:ext cx="10652760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5486393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6 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6642" y="5486393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24-36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390" y="5486393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3 more provinces. First regional pilot.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5660" y="5486393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USD 1M run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1264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longest-lead item is the Department of Motor Traffic data-sharing agreement - plate to registered owner. We start it in phase 2, not phase 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will go wrong, and what we do about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52760" cy="42062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37944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0249" y="1837944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What we do about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258568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Procurement takes two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0249" y="2258568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revenue funds us; sub-contract under a registered integrator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96896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679192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Is AI evidence admissible?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0249" y="2679192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Officer approves every fine; audit trail; calibration certificate per camera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17520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99816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Privacy backlash / PDPA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0249" y="3099816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 face recognition, ever. Plates only. 90-day retention, then auto-purge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38144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520440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'Big Brother' media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0249" y="3520440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Lead with lives, not fines. Publish violation-rate falls, not revenue collected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58768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941064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Existing cameras are the wrong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0249" y="3941064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Survey first, state the usable percentage up front, sell our own where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279392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61688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 false positive fines an innocent person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0249" y="4361688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Human approval gate, precision over recall, one-click dispute, publish our error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700016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782312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Power cuts and network drops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0249" y="4782312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Edge box queues locally on a UPS and syncs when the link returns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120640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5202936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'Make this challan disappear'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0249" y="5202936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Append-only audit log; every view and cancellation attributed to a named officer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541264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" y="5623560"/>
            <a:ext cx="361553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Officers resist - it threatens discretion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0249" y="5623560"/>
            <a:ext cx="659831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Position it as deployment intelligence: it tells them where to stand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807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None of these are new. Every country that automated enforcement hit all of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COMPETITION AND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model is not the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Anyone can download YOLO. Our biggest threat is a global vendor giving the software away to win the camera contract - so we do not compete on price. We run on top of their hardware and sell the layer they cannot.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The calibrated camera 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6517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1,000 geo-registered cameras is months of field work a competitor must repeat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9184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Workflow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Once challans flow through our review queue, switching costs are retraining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6908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879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A labelled Sri Lankan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2062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Plates, helmets, three-wheelers, night, monsoon - no foreign vendor has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4632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651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Legal precedent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98348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The first vendor whose challan survives a court challenge owns the 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62356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424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Cost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7607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A local team on an LKR cost base undercuts anyone importing engineers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we are asking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0253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LKR 15M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~USD 50,000 seed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74519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00253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18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8775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of runway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00253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80 cameras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58775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live by month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874519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00253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8775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paying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60% salaries  |  15% pilot hardware  |  10% legal and PDPA compliance  |  10% field operations  |  5% buffer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And four things that are not money: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1.</a:t>
            </a:r>
            <a:r>
              <a:rPr sz="1450" b="0">
                <a:solidFill>
                  <a:srgbClr val="0F172A"/>
                </a:solidFill>
                <a:latin typeface="Segoe UI"/>
              </a:rPr>
              <a:t>  One letter of support from the National Council for Road Safety or Police Traffic HQ.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2.</a:t>
            </a:r>
            <a:r>
              <a:rPr sz="1450" b="0">
                <a:solidFill>
                  <a:srgbClr val="0F172A"/>
                </a:solidFill>
                <a:latin typeface="Segoe UI"/>
              </a:rPr>
              <a:t>  One municipal council willing to host a free 30-day audit.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3.</a:t>
            </a:r>
            <a:r>
              <a:rPr sz="1450" b="0">
                <a:solidFill>
                  <a:srgbClr val="0F172A"/>
                </a:solidFill>
                <a:latin typeface="Segoe UI"/>
              </a:rPr>
              <a:t>  An introduction to a government IT integrator with existing vendor registration.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4.</a:t>
            </a:r>
            <a:r>
              <a:rPr sz="1450" b="0">
                <a:solidFill>
                  <a:srgbClr val="0F172A"/>
                </a:solidFill>
                <a:latin typeface="Segoe UI"/>
              </a:rPr>
              <a:t>  Access to a labelled Sri Lankan traffic dataset - or permission to build 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13_06_junction_tracking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We already built the hard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E7490"/>
                </a:solidFill>
                <a:latin typeface="Segoe UI"/>
              </a:rPr>
              <a:t>Now we are asking for the boring part: one council, one letter, one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Segoe UI"/>
              </a:rPr>
              <a:t>Thank you. We are happy to take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Team Three Hacks  |  github.com/Jeba-Jebarsan/AI-SMART-TRAFFIC-INTELLIGENCE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