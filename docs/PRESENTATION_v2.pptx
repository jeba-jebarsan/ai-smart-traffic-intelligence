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17_05_anpr_sri_lanka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0F172A"/>
                </a:solidFill>
                <a:latin typeface="Segoe UI"/>
              </a:rPr>
              <a:t>AI Smart Traffic 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0E7490"/>
                </a:solidFill>
                <a:latin typeface="Segoe UI"/>
              </a:rPr>
              <a:t>Turning any camera feed into fair, evidence-based enforcement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86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B84"/>
                </a:solidFill>
                <a:latin typeface="Segoe UI"/>
              </a:rPr>
              <a:t>Team Three Hacks  |  Startup Innovation Competition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892040"/>
            <a:ext cx="2651760" cy="12344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020056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60527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B6B84"/>
                </a:solidFill>
                <a:latin typeface="Segoe UI"/>
              </a:rPr>
              <a:t>violation types live today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4892040"/>
            <a:ext cx="2651760" cy="12344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5020056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560527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B6B84"/>
                </a:solidFill>
                <a:latin typeface="Segoe UI"/>
              </a:rPr>
              <a:t>automated tests passing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4892040"/>
            <a:ext cx="2651760" cy="12344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5020056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83-163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560527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B6B84"/>
                </a:solidFill>
                <a:latin typeface="Segoe UI"/>
              </a:rPr>
              <a:t>km/h speed verified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Every day, people die on roads a camera was watching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50" b="0">
                <a:solidFill>
                  <a:srgbClr val="0F172A"/>
                </a:solidFill>
                <a:latin typeface="Segoe UI"/>
              </a:rPr>
              <a:t>Sri Lanka records roughly </a:t>
            </a:r>
            <a:r>
              <a:rPr sz="1850" b="1">
                <a:solidFill>
                  <a:srgbClr val="0F172A"/>
                </a:solidFill>
                <a:latin typeface="Segoe UI"/>
              </a:rPr>
              <a:t>3,000 road deaths a year</a:t>
            </a:r>
            <a:r>
              <a:rPr sz="1850" b="0">
                <a:solidFill>
                  <a:srgbClr val="0F172A"/>
                </a:solidFill>
                <a:latin typeface="Segoe UI"/>
              </a:rPr>
              <a:t>, most of them from violations that are simple to see.</a:t>
            </a:r>
          </a:p>
          <a:p>
            <a:pPr algn="l">
              <a:spcAft>
                <a:spcPts val="1400"/>
              </a:spcAft>
            </a:pPr>
            <a:r>
              <a:rPr sz="1850" b="0">
                <a:solidFill>
                  <a:srgbClr val="0F172A"/>
                </a:solidFill>
                <a:latin typeface="Segoe UI"/>
              </a:rPr>
              <a:t>Officers cannot stand at every junction, 24 hours a day. Enforcement is limited by </a:t>
            </a:r>
            <a:r>
              <a:rPr sz="1850" b="1">
                <a:solidFill>
                  <a:srgbClr val="0F172A"/>
                </a:solidFill>
                <a:latin typeface="Segoe UI"/>
              </a:rPr>
              <a:t>how many people we can hire</a:t>
            </a:r>
            <a:r>
              <a:rPr sz="1850" b="0">
                <a:solidFill>
                  <a:srgbClr val="0F172A"/>
                </a:solidFill>
                <a:latin typeface="Segoe UI"/>
              </a:rPr>
              <a:t>.</a:t>
            </a:r>
          </a:p>
          <a:p>
            <a:pPr algn="l">
              <a:spcAft>
                <a:spcPts val="1400"/>
              </a:spcAft>
            </a:pPr>
            <a:r>
              <a:rPr sz="1850" b="0">
                <a:solidFill>
                  <a:srgbClr val="0F172A"/>
                </a:solidFill>
                <a:latin typeface="Segoe UI"/>
              </a:rPr>
              <a:t>A fine written </a:t>
            </a:r>
            <a:r>
              <a:rPr sz="1850" b="1">
                <a:solidFill>
                  <a:srgbClr val="0F172A"/>
                </a:solidFill>
                <a:latin typeface="Segoe UI"/>
              </a:rPr>
              <a:t>without a photo and a verified plate</a:t>
            </a:r>
            <a:r>
              <a:rPr sz="1850" b="0">
                <a:solidFill>
                  <a:srgbClr val="0F172A"/>
                </a:solidFill>
                <a:latin typeface="Segoe UI"/>
              </a:rPr>
              <a:t> is argued about, and often never paid.</a:t>
            </a:r>
          </a:p>
          <a:p>
            <a:pPr algn="l">
              <a:spcAft>
                <a:spcPts val="1400"/>
              </a:spcAft>
            </a:pPr>
            <a:r>
              <a:rPr sz="1850" b="0">
                <a:solidFill>
                  <a:srgbClr val="0F172A"/>
                </a:solidFill>
                <a:latin typeface="Segoe UI"/>
              </a:rPr>
              <a:t>Nothing is recorded in a searchable way, so </a:t>
            </a:r>
            <a:r>
              <a:rPr sz="1850" b="1">
                <a:solidFill>
                  <a:srgbClr val="0F172A"/>
                </a:solidFill>
                <a:latin typeface="Segoe UI"/>
              </a:rPr>
              <a:t>repeat offenders stay invisible</a:t>
            </a:r>
            <a:r>
              <a:rPr sz="1850" b="0">
                <a:solidFill>
                  <a:srgbClr val="0F172A"/>
                </a:solidFill>
                <a:latin typeface="Segoe U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E7490"/>
                </a:solidFill>
                <a:latin typeface="Segoe UI"/>
              </a:rPr>
              <a:t>The gap is not cameras. The gap is coverage and proof.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212080" cy="39319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2996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7490"/>
                </a:solidFill>
                <a:latin typeface="Segoe UI"/>
              </a:rPr>
              <a:t>What already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Colombo alone has </a:t>
            </a:r>
            <a:r>
              <a:rPr sz="1350" b="1">
                <a:solidFill>
                  <a:srgbClr val="0F172A"/>
                </a:solidFill>
                <a:latin typeface="Segoe UI"/>
              </a:rPr>
              <a:t>over 100 road cameras</a:t>
            </a:r>
            <a:r>
              <a:rPr sz="1350" b="0">
                <a:solidFill>
                  <a:srgbClr val="0F172A"/>
                </a:solidFill>
                <a:latin typeface="Segoe UI"/>
              </a:rPr>
              <a:t> already installed.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Police already issue spot fines - the </a:t>
            </a:r>
            <a:r>
              <a:rPr sz="1350" b="1">
                <a:solidFill>
                  <a:srgbClr val="0F172A"/>
                </a:solidFill>
                <a:latin typeface="Segoe UI"/>
              </a:rPr>
              <a:t>legal framework is in place</a:t>
            </a:r>
            <a:r>
              <a:rPr sz="1350" b="0">
                <a:solidFill>
                  <a:srgbClr val="0F172A"/>
                </a:solidFill>
                <a:latin typeface="Segoe UI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Phones and drones make any road coverable today, with no civil works.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59" y="1828800"/>
            <a:ext cx="5212080" cy="39319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202996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7490"/>
                </a:solidFill>
                <a:latin typeface="Segoe UI"/>
              </a:rPr>
              <a:t>What is missing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0604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Those cameras are </a:t>
            </a:r>
            <a:r>
              <a:rPr sz="1350" b="1">
                <a:solidFill>
                  <a:srgbClr val="0F172A"/>
                </a:solidFill>
                <a:latin typeface="Segoe UI"/>
              </a:rPr>
              <a:t>watched by a person, or by nobody at all</a:t>
            </a:r>
            <a:r>
              <a:rPr sz="1350" b="0">
                <a:solidFill>
                  <a:srgbClr val="0F172A"/>
                </a:solidFill>
                <a:latin typeface="Segoe UI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There is no automatic path from camera to challan to payment.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Enforcement grows with headcount, not with technology.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36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E7490"/>
                </a:solidFill>
                <a:latin typeface="Segoe UI"/>
              </a:rPr>
              <a:t>We do not need new cameras. We need intelligence behind the ones already there.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>
                <a:solidFill>
                  <a:srgbClr val="0F172A"/>
                </a:solidFill>
                <a:latin typeface="Segoe UI"/>
              </a:rPr>
              <a:t>One AI pipeline on an ordinary camera that judges </a:t>
            </a:r>
            <a:r>
              <a:rPr sz="1800" b="1">
                <a:solidFill>
                  <a:srgbClr val="0F172A"/>
                </a:solidFill>
                <a:latin typeface="Segoe UI"/>
              </a:rPr>
              <a:t>traffic violations of any kind we teach it</a:t>
            </a:r>
            <a:r>
              <a:rPr sz="1800" b="0">
                <a:solidFill>
                  <a:srgbClr val="0F172A"/>
                </a:solidFill>
                <a:latin typeface="Segoe UI"/>
              </a:rPr>
              <a:t>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0F172A"/>
                </a:solidFill>
                <a:latin typeface="Segoe UI"/>
              </a:rPr>
              <a:t>Reads </a:t>
            </a:r>
            <a:r>
              <a:rPr sz="1800" b="1">
                <a:solidFill>
                  <a:srgbClr val="0F172A"/>
                </a:solidFill>
                <a:latin typeface="Segoe UI"/>
              </a:rPr>
              <a:t>number plates on every vehicle</a:t>
            </a:r>
            <a:r>
              <a:rPr sz="1800" b="0">
                <a:solidFill>
                  <a:srgbClr val="0F172A"/>
                </a:solidFill>
                <a:latin typeface="Segoe UI"/>
              </a:rPr>
              <a:t>, not only on offenders.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0F172A"/>
                </a:solidFill>
                <a:latin typeface="Segoe UI"/>
              </a:rPr>
              <a:t>Measures </a:t>
            </a:r>
            <a:r>
              <a:rPr sz="1800" b="1">
                <a:solidFill>
                  <a:srgbClr val="0F172A"/>
                </a:solidFill>
                <a:latin typeface="Segoe UI"/>
              </a:rPr>
              <a:t>real road speed</a:t>
            </a:r>
            <a:r>
              <a:rPr sz="1800" b="0">
                <a:solidFill>
                  <a:srgbClr val="0F172A"/>
                </a:solidFill>
                <a:latin typeface="Segoe UI"/>
              </a:rPr>
              <a:t> using surveyed road geometry.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0F172A"/>
                </a:solidFill>
                <a:latin typeface="Segoe UI"/>
              </a:rPr>
              <a:t>Issues an </a:t>
            </a:r>
            <a:r>
              <a:rPr sz="1800" b="1">
                <a:solidFill>
                  <a:srgbClr val="0F172A"/>
                </a:solidFill>
                <a:latin typeface="Segoe UI"/>
              </a:rPr>
              <a:t>e-challan with stamped photographic evidence</a:t>
            </a:r>
            <a:r>
              <a:rPr sz="1800" b="0">
                <a:solidFill>
                  <a:srgbClr val="0F172A"/>
                </a:solidFill>
                <a:latin typeface="Segoe UI"/>
              </a:rPr>
              <a:t>, sent to the police automatically.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E7490"/>
                </a:solidFill>
                <a:latin typeface="Segoe UI"/>
              </a:rPr>
              <a:t>Camera  -&gt;  YOLOv8s  -&gt;  ByteTrack  -&gt;  Homography  -&gt;  Violation engine  -&gt;  ANPR  -&gt;  e-Challan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E7490"/>
                </a:solidFill>
                <a:latin typeface="Segoe UI"/>
              </a:rPr>
              <a:t>Runs on a single laptop CPU. No new hardware to install.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How it works, in six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429000" cy="16916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9397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242316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"/>
              </a:rPr>
              <a:t>See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2862072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5B6B84"/>
                </a:solidFill>
                <a:latin typeface="Segoe UI"/>
              </a:rPr>
              <a:t>YOLOv8s finds vehicles, riders, helmets and plates in each frame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965960"/>
            <a:ext cx="3429000" cy="16916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6591" y="209397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6591" y="242316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"/>
              </a:rPr>
              <a:t>Follow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1" y="2862072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5B6B84"/>
                </a:solidFill>
                <a:latin typeface="Segoe UI"/>
              </a:rPr>
              <a:t>ByteTrack gives every vehicle an identity it keeps across frames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1965960"/>
            <a:ext cx="3429000" cy="16916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39911" y="209397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9911" y="242316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"/>
              </a:rPr>
              <a:t>Measure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911" y="2862072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5B6B84"/>
                </a:solidFill>
                <a:latin typeface="Segoe UI"/>
              </a:rPr>
              <a:t>Four surveyed road corners turn pixels into real metres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931920"/>
            <a:ext cx="3429000" cy="16916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05993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" y="438912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"/>
              </a:rPr>
              <a:t>Judge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" y="4828032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5B6B84"/>
                </a:solidFill>
                <a:latin typeface="Segoe UI"/>
              </a:rPr>
              <a:t>The rule engine runs, each rule behind motion and persistence gates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59" y="3931920"/>
            <a:ext cx="3429000" cy="16916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6591" y="405993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1" y="438912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"/>
              </a:rPr>
              <a:t>Identify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6591" y="4828032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5B6B84"/>
                </a:solidFill>
                <a:latin typeface="Segoe UI"/>
              </a:rPr>
              <a:t>OCR reads the plate; three agreeing reads confirm 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79" y="3931920"/>
            <a:ext cx="3429000" cy="16916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9911" y="405993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39911" y="438912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"/>
              </a:rPr>
              <a:t>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9911" y="4828032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5B6B84"/>
                </a:solidFill>
                <a:latin typeface="Segoe UI"/>
              </a:rPr>
              <a:t>An e-challan with photo evidence is generated and emailed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E7490"/>
                </a:solidFill>
                <a:latin typeface="Segoe UI"/>
              </a:rPr>
              <a:t>Every step runs live. Nothing is pre-recorded and nothing is faked.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CAPABILITY AND EXTENSIBILITY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A rule engine, not a fixed feature 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B84"/>
                </a:solidFill>
                <a:latin typeface="Segoe UI"/>
              </a:rPr>
              <a:t>Nine rules are live today. Each is a small module over the same detection and tracking core, so the tenth is days of work, not a new product.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3383280" cy="7772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8716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No Helmet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286000"/>
            <a:ext cx="3383280" cy="7772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248716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Triple Riding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2286000"/>
            <a:ext cx="3383280" cy="7772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48716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Over Speeding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18688"/>
            <a:ext cx="3383280" cy="7772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419856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Red Light Jump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3218688"/>
            <a:ext cx="3383280" cy="7772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3419856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Wrong Way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3218688"/>
            <a:ext cx="3383280" cy="7772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3419856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No Seatbelt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151376"/>
            <a:ext cx="3383280" cy="7772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352544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Mobile Phone Use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4151376"/>
            <a:ext cx="3383280" cy="7772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4352544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Illegal Parking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4151376"/>
            <a:ext cx="3383280" cy="7772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4352544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No Rest Break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5780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1">
                <a:solidFill>
                  <a:srgbClr val="5B6B84"/>
                </a:solidFill>
                <a:latin typeface="Segoe UI"/>
              </a:rPr>
              <a:t>Already asked for and straightforward to add:</a:t>
            </a:r>
            <a:r>
              <a:rPr sz="1350" b="0">
                <a:solidFill>
                  <a:srgbClr val="5B6B84"/>
                </a:solidFill>
                <a:latin typeface="Segoe UI"/>
              </a:rPr>
              <a:t> lane discipline, unauthorised bus-lane use, overloaded three-wheelers, number-plate obscuring, pedestrian-crossing blocking.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5B6B84"/>
                </a:solidFill>
                <a:latin typeface="Segoe UI"/>
              </a:rPr>
              <a:t>Plus ANPR on </a:t>
            </a:r>
            <a:r>
              <a:rPr sz="1350" b="1">
                <a:solidFill>
                  <a:srgbClr val="5B6B84"/>
                </a:solidFill>
                <a:latin typeface="Segoe UI"/>
              </a:rPr>
              <a:t>every</a:t>
            </a:r>
            <a:r>
              <a:rPr sz="1350" b="0">
                <a:solidFill>
                  <a:srgbClr val="5B6B84"/>
                </a:solidFill>
                <a:latin typeface="Segoe UI"/>
              </a:rPr>
              <a:t> tracked vehicle, building a searchable enforcement log underneath all of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VERIFIED SYSTEM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Proof: over-speeding</a:t>
            </a:r>
          </a:p>
        </p:txBody>
      </p:sp>
      <p:pic>
        <p:nvPicPr>
          <p:cNvPr id="5" name="Picture 4" descr="01_over_speeding_evidence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1783080"/>
            <a:ext cx="682752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806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B6B84"/>
                </a:solidFill>
                <a:latin typeface="Segoe UI"/>
              </a:rPr>
              <a:t>134.0 km/h in a 60 zone - vehicle boxed, plate zoomed, proof stamped onto the image. </a:t>
            </a:r>
            <a:r>
              <a:rPr sz="1400" b="1">
                <a:solidFill>
                  <a:srgbClr val="5B6B84"/>
                </a:solidFill>
                <a:latin typeface="Segoe UI"/>
              </a:rPr>
              <a:t>7 events</a:t>
            </a:r>
            <a:r>
              <a:rPr sz="1400" b="0">
                <a:solidFill>
                  <a:srgbClr val="5B6B84"/>
                </a:solidFill>
                <a:latin typeface="Segoe UI"/>
              </a:rPr>
              <a:t> measured at </a:t>
            </a:r>
            <a:r>
              <a:rPr sz="1400" b="1">
                <a:solidFill>
                  <a:srgbClr val="5B6B84"/>
                </a:solidFill>
                <a:latin typeface="Segoe UI"/>
              </a:rPr>
              <a:t>83-163 km/h</a:t>
            </a:r>
            <a:r>
              <a:rPr sz="1400" b="0">
                <a:solidFill>
                  <a:srgbClr val="5B6B84"/>
                </a:solidFill>
                <a:latin typeface="Segoe UI"/>
              </a:rPr>
              <a:t> across two calibrated cameras.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HOW THE NUMBER IS 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Proof: speed is measured, not guessed</a:t>
            </a:r>
          </a:p>
        </p:txBody>
      </p:sp>
      <p:pic>
        <p:nvPicPr>
          <p:cNvPr id="5" name="Picture 4" descr="09_highway_speed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1783080"/>
            <a:ext cx="682752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806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B6B84"/>
                </a:solidFill>
                <a:latin typeface="Segoe UI"/>
              </a:rPr>
              <a:t>We survey four road corners and map pixels to metres, then fit distance against time across many frames and reject outliers. Replay accuracy: </a:t>
            </a:r>
            <a:r>
              <a:rPr sz="1400" b="1">
                <a:solidFill>
                  <a:srgbClr val="5B6B84"/>
                </a:solidFill>
                <a:latin typeface="Segoe UI"/>
              </a:rPr>
              <a:t>0.99-1.01x true speed</a:t>
            </a:r>
            <a:r>
              <a:rPr sz="1400" b="0">
                <a:solidFill>
                  <a:srgbClr val="5B6B84"/>
                </a:solidFill>
                <a:latin typeface="Segoe UI"/>
              </a:rPr>
              <a:t>. An uncalibrated camera shows </a:t>
            </a:r>
            <a:r>
              <a:rPr sz="1400" b="1">
                <a:solidFill>
                  <a:srgbClr val="5B6B84"/>
                </a:solidFill>
                <a:latin typeface="Segoe UI"/>
              </a:rPr>
              <a:t>no speed at all</a:t>
            </a:r>
            <a:r>
              <a:rPr sz="1400" b="0">
                <a:solidFill>
                  <a:srgbClr val="5B6B84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VERIFIED SYSTEM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Proof: helmet and triple riding</a:t>
            </a:r>
          </a:p>
        </p:txBody>
      </p:sp>
      <p:pic>
        <p:nvPicPr>
          <p:cNvPr id="5" name="Picture 4" descr="07_image_upload_triple_helm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783080"/>
            <a:ext cx="576072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806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B6B84"/>
                </a:solidFill>
                <a:latin typeface="Segoe UI"/>
              </a:rPr>
              <a:t>Both violations detected from a </a:t>
            </a:r>
            <a:r>
              <a:rPr sz="1400" b="1">
                <a:solidFill>
                  <a:srgbClr val="5B6B84"/>
                </a:solidFill>
                <a:latin typeface="Segoe UI"/>
              </a:rPr>
              <a:t>single photograph</a:t>
            </a:r>
            <a:r>
              <a:rPr sz="1400" b="0">
                <a:solidFill>
                  <a:srgbClr val="5B6B84"/>
                </a:solidFill>
                <a:latin typeface="Segoe UI"/>
              </a:rPr>
              <a:t>, producing </a:t>
            </a:r>
            <a:r>
              <a:rPr sz="1400" b="1">
                <a:solidFill>
                  <a:srgbClr val="5B6B84"/>
                </a:solidFill>
                <a:latin typeface="Segoe UI"/>
              </a:rPr>
              <a:t>two separate challans</a:t>
            </a:r>
            <a:r>
              <a:rPr sz="1400" b="0">
                <a:solidFill>
                  <a:srgbClr val="5B6B84"/>
                </a:solidFill>
                <a:latin typeface="Segoe UI"/>
              </a:rPr>
              <a:t>. Riders are matched to their motorcycle geometrically, so a bystander on the pavement is never counted.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PRECISION, NOT JUST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Proof: the bystander is not counted</a:t>
            </a:r>
          </a:p>
        </p:txBody>
      </p:sp>
      <p:pic>
        <p:nvPicPr>
          <p:cNvPr id="5" name="Picture 4" descr="11_no_helmet_bysta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25" y="1783080"/>
            <a:ext cx="216027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806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B6B84"/>
                </a:solidFill>
                <a:latin typeface="Segoe UI"/>
              </a:rPr>
              <a:t>The rider is fined for no helmet. The person crouching beside the bike is </a:t>
            </a:r>
            <a:r>
              <a:rPr sz="1400" b="1">
                <a:solidFill>
                  <a:srgbClr val="5B6B84"/>
                </a:solidFill>
                <a:latin typeface="Segoe UI"/>
              </a:rPr>
              <a:t>not</a:t>
            </a:r>
            <a:r>
              <a:rPr sz="1400" b="0">
                <a:solidFill>
                  <a:srgbClr val="5B6B84"/>
                </a:solidFill>
                <a:latin typeface="Segoe UI"/>
              </a:rPr>
              <a:t> counted as a rider, and the scooter behind is not accused. </a:t>
            </a:r>
            <a:r>
              <a:rPr sz="1400" b="1">
                <a:solidFill>
                  <a:srgbClr val="5B6B84"/>
                </a:solidFill>
                <a:latin typeface="Segoe UI"/>
              </a:rPr>
              <a:t>Anyone can draw a box. Judging correctly is the hard part.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ANPR ON A REAL SRI LANKAN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Proof: number-plate recognition</a:t>
            </a:r>
          </a:p>
        </p:txBody>
      </p:sp>
      <p:pic>
        <p:nvPicPr>
          <p:cNvPr id="5" name="Picture 4" descr="05_anpr_sri_lanka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783080"/>
            <a:ext cx="512064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806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B6B84"/>
                </a:solidFill>
                <a:latin typeface="Segoe UI"/>
              </a:rPr>
              <a:t>150 vehicles tracked; plates </a:t>
            </a:r>
            <a:r>
              <a:rPr sz="1400" b="1">
                <a:solidFill>
                  <a:srgbClr val="5B6B84"/>
                </a:solidFill>
                <a:latin typeface="Segoe UI"/>
              </a:rPr>
              <a:t>AAG 4002</a:t>
            </a:r>
            <a:r>
              <a:rPr sz="1400" b="0">
                <a:solidFill>
                  <a:srgbClr val="5B6B84"/>
                </a:solidFill>
                <a:latin typeface="Segoe UI"/>
              </a:rPr>
              <a:t> and </a:t>
            </a:r>
            <a:r>
              <a:rPr sz="1400" b="1">
                <a:solidFill>
                  <a:srgbClr val="5B6B84"/>
                </a:solidFill>
                <a:latin typeface="Segoe UI"/>
              </a:rPr>
              <a:t>BBJ 8752</a:t>
            </a:r>
            <a:r>
              <a:rPr sz="1400" b="0">
                <a:solidFill>
                  <a:srgbClr val="5B6B84"/>
                </a:solidFill>
                <a:latin typeface="Segoe UI"/>
              </a:rPr>
              <a:t> read and confirmed. A plate is written to a challan only when </a:t>
            </a:r>
            <a:r>
              <a:rPr sz="1400" b="1">
                <a:solidFill>
                  <a:srgbClr val="5B6B84"/>
                </a:solidFill>
                <a:latin typeface="Segoe UI"/>
              </a:rPr>
              <a:t>three separate reads agree</a:t>
            </a:r>
            <a:r>
              <a:rPr sz="1400" b="0">
                <a:solidFill>
                  <a:srgbClr val="5B6B84"/>
                </a:solidFill>
                <a:latin typeface="Segoe UI"/>
              </a:rPr>
              <a:t> - otherwise it says UNREADABLE.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AN HONEST ENGINEERING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Every rule needs the right camera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F172A"/>
                </a:solidFill>
                <a:latin typeface="Segoe UI"/>
              </a:rPr>
              <a:t>Helmet, triple riding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874519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B6B84"/>
                </a:solidFill>
                <a:latin typeface="Segoe UI"/>
              </a:rPr>
              <a:t>Any view where the rider is visible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874519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0E7490"/>
                </a:solidFill>
                <a:latin typeface="Segoe UI"/>
              </a:rPr>
              <a:t>Demonstrated on real footage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70632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F172A"/>
                </a:solidFill>
                <a:latin typeface="Segoe UI"/>
              </a:rPr>
              <a:t>Over speeding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770632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B6B84"/>
                </a:solidFill>
                <a:latin typeface="Segoe UI"/>
              </a:rPr>
              <a:t>Four surveyed road corners, so pixels become metres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770632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0E7490"/>
                </a:solidFill>
                <a:latin typeface="Segoe UI"/>
              </a:rPr>
              <a:t>Demonstrated - 83-163 km/h, two cameras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66744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F172A"/>
                </a:solidFill>
                <a:latin typeface="Segoe UI"/>
              </a:rPr>
              <a:t>Red light jump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666744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B6B84"/>
                </a:solidFill>
                <a:latin typeface="Segoe UI"/>
              </a:rPr>
              <a:t>The stop line, and which signal head governs the lane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666744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0E7490"/>
                </a:solidFill>
                <a:latin typeface="Segoe UI"/>
              </a:rPr>
              <a:t>Fires once calibrated; never guessed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62856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F172A"/>
                </a:solidFill>
                <a:latin typeface="Segoe UI"/>
              </a:rPr>
              <a:t>Illegal parking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4562856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B6B84"/>
                </a:solidFill>
                <a:latin typeface="Segoe UI"/>
              </a:rPr>
              <a:t>A fixed camera, so stillness can be proven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562856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0E7490"/>
                </a:solidFill>
                <a:latin typeface="Segoe UI"/>
              </a:rPr>
              <a:t>Needs a mounted camera, not hand-held video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458968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F172A"/>
                </a:solidFill>
                <a:latin typeface="Segoe UI"/>
              </a:rPr>
              <a:t>No seatbelt, phone 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5458968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B6B84"/>
                </a:solidFill>
                <a:latin typeface="Segoe UI"/>
              </a:rPr>
              <a:t>A front view of the driver, close enough to resolve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458968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0E7490"/>
                </a:solidFill>
                <a:latin typeface="Segoe UI"/>
              </a:rPr>
              <a:t>Fleet cameras have it; road CCTV does not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E7490"/>
                </a:solidFill>
                <a:latin typeface="Segoe UI"/>
              </a:rPr>
              <a:t>Every rule is built and tested. We demonstrate only what our footage genuinely contains.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THE REAL DIFFERENTIATOR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Why it can be trusted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Parked vehicles are never fined</a:t>
            </a:r>
            <a:r>
              <a:rPr sz="1700" b="0">
                <a:solidFill>
                  <a:srgbClr val="0F172A"/>
                </a:solidFill>
                <a:latin typeface="Segoe UI"/>
              </a:rPr>
              <a:t> - 41 vehicles, 0 violations on a parked-motorcycle clip.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Unreadable plates say UNREADABLE</a:t>
            </a:r>
            <a:r>
              <a:rPr sz="1700" b="0">
                <a:solidFill>
                  <a:srgbClr val="0F172A"/>
                </a:solidFill>
                <a:latin typeface="Segoe UI"/>
              </a:rPr>
              <a:t> - a number is never invented.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No calibration means no speed shown</a:t>
            </a:r>
            <a:r>
              <a:rPr sz="1700" b="0">
                <a:solidFill>
                  <a:srgbClr val="0F172A"/>
                </a:solidFill>
                <a:latin typeface="Segoe UI"/>
              </a:rPr>
              <a:t>, rather than a misleading guess.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A violation must persist across frames</a:t>
            </a:r>
            <a:r>
              <a:rPr sz="1700" b="0">
                <a:solidFill>
                  <a:srgbClr val="0F172A"/>
                </a:solidFill>
                <a:latin typeface="Segoe UI"/>
              </a:rPr>
              <a:t> - one-frame anomalies rejected.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A model that cannot prove itself is switched off</a:t>
            </a:r>
            <a:r>
              <a:rPr sz="1700" b="0">
                <a:solidFill>
                  <a:srgbClr val="0F172A"/>
                </a:solidFill>
                <a:latin typeface="Segoe UI"/>
              </a:rPr>
              <a:t>, not trusted.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074920"/>
            <a:ext cx="3291840" cy="12344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202936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8815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B6B84"/>
                </a:solidFill>
                <a:latin typeface="Segoe UI"/>
              </a:rPr>
              <a:t>false-positive defects found and fixed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5074920"/>
            <a:ext cx="3291840" cy="12344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5202936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15803D"/>
                </a:solidFill>
                <a:latin typeface="Segoe UI"/>
              </a:rPr>
              <a:t>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78815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B6B84"/>
                </a:solidFill>
                <a:latin typeface="Segoe UI"/>
              </a:rPr>
              <a:t>automated tests passing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5074920"/>
            <a:ext cx="3291840" cy="12344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5202936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0E7490"/>
                </a:solidFill>
                <a:latin typeface="Segoe U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578815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B6B84"/>
                </a:solidFill>
                <a:latin typeface="Segoe UI"/>
              </a:rPr>
              <a:t>violations on parked bikes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ENGINEERING RIGOUR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Found by testing on real roads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Our own seatbelt model was broken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874519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5B6B84"/>
                </a:solidFill>
                <a:latin typeface="Segoe UI"/>
              </a:rPr>
              <a:t>It called a belted driver, and an empty road, 'no seatbelt'. We disabled the rule rather than ship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A stopped car fined for a red light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743200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5B6B84"/>
                </a:solidFill>
                <a:latin typeface="Segoe UI"/>
              </a:rPr>
              <a:t>A signal from a different junction approach was applied to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7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Helmeted riders accused of no helmet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3611879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5B6B84"/>
                </a:solidFill>
                <a:latin typeface="Segoe UI"/>
              </a:rPr>
              <a:t>The helmet crop was catching neighbouring riders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5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A sleeping driver flagged as 'on phone'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480559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5B6B84"/>
                </a:solidFill>
                <a:latin typeface="Segoe UI"/>
              </a:rPr>
              <a:t>A marginal 0.36 detection on a dark steering column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349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Speeds shown on uncalibrated cameras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5349240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5B6B84"/>
                </a:solidFill>
                <a:latin typeface="Segoe UI"/>
              </a:rPr>
              <a:t>Meaningless numbers where no perspective calibration exists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636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E7490"/>
                </a:solidFill>
                <a:latin typeface="Segoe UI"/>
              </a:rPr>
              <a:t>We found these in our own system and fixed them. Each one is now an automated test.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INNOVATION AND UNIQUENESS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What makes it different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212080" cy="39319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2996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7490"/>
                </a:solidFill>
                <a:latin typeface="Segoe UI"/>
              </a:rPr>
              <a:t>Typical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Single purpose - a speed camera, or a plate reader.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Report a number with no proof attached.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Demo well, then fail on real roads with false positives.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Need dedicated hardware installed at each site.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59" y="1828800"/>
            <a:ext cx="5212080" cy="39319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202996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7490"/>
                </a:solidFill>
                <a:latin typeface="Segoe UI"/>
              </a:rPr>
              <a:t>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0604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One engine, many rules</a:t>
            </a:r>
            <a:r>
              <a:rPr sz="1350" b="0">
                <a:solidFill>
                  <a:srgbClr val="0F172A"/>
                </a:solidFill>
                <a:latin typeface="Segoe UI"/>
              </a:rPr>
              <a:t>, on any camera.</a:t>
            </a: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Evidence-first</a:t>
            </a:r>
            <a:r>
              <a:rPr sz="1350" b="0">
                <a:solidFill>
                  <a:srgbClr val="0F172A"/>
                </a:solidFill>
                <a:latin typeface="Segoe UI"/>
              </a:rPr>
              <a:t>: every fine carries a stamped photo and plate crop.</a:t>
            </a: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Engineered to refuse</a:t>
            </a:r>
            <a:r>
              <a:rPr sz="1350" b="0">
                <a:solidFill>
                  <a:srgbClr val="0F172A"/>
                </a:solidFill>
                <a:latin typeface="Segoe UI"/>
              </a:rPr>
              <a:t> - it reports only what it can prove.</a:t>
            </a: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Runs on cameras that already exist</a:t>
            </a:r>
            <a:r>
              <a:rPr sz="1350" b="0">
                <a:solidFill>
                  <a:srgbClr val="0F172A"/>
                </a:solidFill>
                <a:latin typeface="Segoe UI"/>
              </a:rPr>
              <a:t>, on a laptop CPU.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TARGET USERS 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Who it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212080" cy="39319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2996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7490"/>
                </a:solidFill>
                <a:latin typeface="Segoe UI"/>
              </a:rPr>
              <a:t>Primary 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Sri Lanka Police traffic division</a:t>
            </a:r>
            <a:r>
              <a:rPr sz="1350" b="0">
                <a:solidFill>
                  <a:srgbClr val="0F172A"/>
                </a:solidFill>
                <a:latin typeface="Segoe UI"/>
              </a:rPr>
              <a:t> - automated enforcement on existing junction cameras.</a:t>
            </a: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Road Development Authority and municipal councils</a:t>
            </a:r>
            <a:r>
              <a:rPr sz="1350" b="0">
                <a:solidFill>
                  <a:srgbClr val="0F172A"/>
                </a:solidFill>
                <a:latin typeface="Segoe UI"/>
              </a:rPr>
              <a:t> - highway corridors, school and hospital zones.</a:t>
            </a: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Commercial fleet operators</a:t>
            </a:r>
            <a:r>
              <a:rPr sz="1350" b="0">
                <a:solidFill>
                  <a:srgbClr val="0F172A"/>
                </a:solidFill>
                <a:latin typeface="Segoe UI"/>
              </a:rPr>
              <a:t> - seatbelt and fatigue compliance for buses and lorries.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59" y="1828800"/>
            <a:ext cx="5212080" cy="39319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202996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7490"/>
                </a:solidFill>
                <a:latin typeface="Segoe UI"/>
              </a:rPr>
              <a:t>Why they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0604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Enforcement reach without hiring proportionally more officers.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Evidence that survives dispute, so fines are actually collected.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Data on where violations concentrate, to target scarce resources.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Fleet operators cut insurance exposure and liability.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36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E7490"/>
                </a:solidFill>
                <a:latin typeface="Segoe UI"/>
              </a:rPr>
              <a:t>Entry point: a single pilot junction. Expansion: corridor, then city.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HOW IT SUSTAINS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Business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28800"/>
            <a:ext cx="10607040" cy="86868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3852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0E7490"/>
                </a:solidFill>
                <a:latin typeface="Segoe UI"/>
              </a:rPr>
              <a:t>Pilot deployment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1956816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One-off setup and calibration per camera site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880360"/>
            <a:ext cx="10607040" cy="86868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99008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0E7490"/>
                </a:solidFill>
                <a:latin typeface="Segoe UI"/>
              </a:rPr>
              <a:t>Annual software licence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3008376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Per-camera subscription covering updates and model improvements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931920"/>
            <a:ext cx="10607040" cy="86868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04164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0E7490"/>
                </a:solidFill>
                <a:latin typeface="Segoe UI"/>
              </a:rPr>
              <a:t>Support and analytics tier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4059936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Dashboards, reporting and repeat-offender analytics for authorities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983479"/>
            <a:ext cx="10607040" cy="86868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093207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0E7490"/>
                </a:solidFill>
                <a:latin typeface="Segoe UI"/>
              </a:rPr>
              <a:t>Fleet compliance package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5111495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Per-vehicle monitoring sold to commercial operators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72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E7490"/>
                </a:solidFill>
                <a:latin typeface="Segoe UI"/>
              </a:rPr>
              <a:t>Cost advantage: no new cameras and no per-site hardware, so a pilot is software and calibration only.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ECONOMIC, SOCIAL, ENVIRONMENTAL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Sustainability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212080" cy="39319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2996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7490"/>
                </a:solidFill>
                <a:latin typeface="Segoe UI"/>
              </a:rPr>
              <a:t>Economically self-sustaining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Runs on </a:t>
            </a:r>
            <a:r>
              <a:rPr sz="1350" b="1">
                <a:solidFill>
                  <a:srgbClr val="0F172A"/>
                </a:solidFill>
                <a:latin typeface="Segoe UI"/>
              </a:rPr>
              <a:t>infrastructure already paid for</a:t>
            </a:r>
            <a:r>
              <a:rPr sz="1350" b="0">
                <a:solidFill>
                  <a:srgbClr val="0F172A"/>
                </a:solidFill>
                <a:latin typeface="Segoe UI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One laptop starts a pilot; no civil works, no gantries.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Recovered fines fund expansion without new capital.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59" y="1828800"/>
            <a:ext cx="5212080" cy="39319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202996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7490"/>
                </a:solidFill>
                <a:latin typeface="Segoe UI"/>
              </a:rPr>
              <a:t>Socially and environmentally sound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0604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Fairness</a:t>
            </a:r>
            <a:r>
              <a:rPr sz="1350" b="0">
                <a:solidFill>
                  <a:srgbClr val="0F172A"/>
                </a:solidFill>
                <a:latin typeface="Segoe UI"/>
              </a:rPr>
              <a:t>: identical rules for every driver, no discretion.</a:t>
            </a: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Fewer deaths</a:t>
            </a:r>
            <a:r>
              <a:rPr sz="1350" b="0">
                <a:solidFill>
                  <a:srgbClr val="0F172A"/>
                </a:solidFill>
                <a:latin typeface="Segoe UI"/>
              </a:rPr>
              <a:t> through deterrence, not punishment.</a:t>
            </a: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Lower emissions</a:t>
            </a:r>
            <a:r>
              <a:rPr sz="1350" b="0">
                <a:solidFill>
                  <a:srgbClr val="0F172A"/>
                </a:solidFill>
                <a:latin typeface="Segoe UI"/>
              </a:rPr>
              <a:t> - smoother traffic, fewer crash-related jams.</a:t>
            </a: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Privacy-respecting</a:t>
            </a:r>
            <a:r>
              <a:rPr sz="1350" b="0">
                <a:solidFill>
                  <a:srgbClr val="0F172A"/>
                </a:solidFill>
                <a:latin typeface="Segoe UI"/>
              </a:rPr>
              <a:t>: plates confirmed three times or marked unreadable; no identity inference.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Scalability and future plans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5309"/>
                </a:solidFill>
                <a:latin typeface="Segoe UI"/>
              </a:rPr>
              <a:t>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874519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Working system, 85 tests, verified on real Sri Lankan road footage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15768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5309"/>
                </a:solidFill>
                <a:latin typeface="Segoe UI"/>
              </a:rPr>
              <a:t>Next 3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71576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Live pilot at one signalised junction with police partnership; night and rain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57015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5309"/>
                </a:solidFill>
                <a:latin typeface="Segoe UI"/>
              </a:rPr>
              <a:t>6-12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557015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Corridor deployment on GPU edge boxes; a trained three-wheeler class for local traffic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98264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5309"/>
                </a:solidFill>
                <a:latin typeface="Segoe UI"/>
              </a:rPr>
              <a:t>Beyond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398264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City-wide multi-camera dashboard; export to comparable South Asian markets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257800"/>
            <a:ext cx="10607040" cy="12344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E7490"/>
                </a:solidFill>
                <a:latin typeface="Segoe UI"/>
              </a:rPr>
              <a:t>The accuracy ceiling is compute, not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77900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Segoe UI"/>
              </a:rPr>
              <a:t>Today we run </a:t>
            </a:r>
            <a:r>
              <a:rPr sz="1250" b="1">
                <a:solidFill>
                  <a:srgbClr val="0F172A"/>
                </a:solidFill>
                <a:latin typeface="Segoe UI"/>
              </a:rPr>
              <a:t>YOLOv8s on a laptop CPU</a:t>
            </a:r>
            <a:r>
              <a:rPr sz="1250" b="0">
                <a:solidFill>
                  <a:srgbClr val="0F172A"/>
                </a:solidFill>
                <a:latin typeface="Segoe UI"/>
              </a:rPr>
              <a:t> - chosen because it fits, not because it is the best available. The detector is one swappable file: on GPU hardware the same pipeline takes </a:t>
            </a:r>
            <a:r>
              <a:rPr sz="1250" b="1">
                <a:solidFill>
                  <a:srgbClr val="0F172A"/>
                </a:solidFill>
                <a:latin typeface="Segoe UI"/>
              </a:rPr>
              <a:t>YOLO11x, RT-DETR or DINO</a:t>
            </a:r>
            <a:r>
              <a:rPr sz="1250" b="0">
                <a:solidFill>
                  <a:srgbClr val="0F172A"/>
                </a:solidFill>
                <a:latin typeface="Segoe UI"/>
              </a:rPr>
              <a:t> with no change to a single rule.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TECHNICAL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What more compute buys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5B6B84"/>
                </a:solidFill>
                <a:latin typeface="Segoe UI"/>
              </a:rPr>
              <a:t>We benchmarked five detectors on our own footage. Every rule sits on one detector interface, so upgrading is a file swap, not a rewrite.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07040" cy="9144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0428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45309"/>
                </a:solidFill>
                <a:latin typeface="Segoe UI"/>
              </a:rPr>
              <a:t>Laptop CPU  (today)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304288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YOLOv8s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28600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0F172A"/>
                </a:solidFill>
                <a:latin typeface="Segoe UI"/>
              </a:rPr>
              <a:t>2.5 analysed frames/sec. We measured yolo11m finding 32% more riders per frame - but running 3.6x slower, so it sees fewer frames and delivers LESS. On CPU, yolov8s wins.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46120"/>
            <a:ext cx="10607040" cy="9144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35584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45309"/>
                </a:solidFill>
                <a:latin typeface="Segoe UI"/>
              </a:rPr>
              <a:t>GPU edge box  (pilot)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355848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YOLO11m / YOLO11x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33756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0F172A"/>
                </a:solidFill>
                <a:latin typeface="Segoe UI"/>
              </a:rPr>
              <a:t>Frame dropping disappears, so raw recall wins instead of speed. The same measurement now ranks yolo11m first.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297679"/>
            <a:ext cx="10607040" cy="9144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407407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45309"/>
                </a:solidFill>
                <a:latin typeface="Segoe UI"/>
              </a:rPr>
              <a:t>Server GPU  (city scale)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407407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RT-DETR, DINO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389119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0F172A"/>
                </a:solidFill>
                <a:latin typeface="Segoe UI"/>
              </a:rPr>
              <a:t>Transformer detectors handle dense, overlapping traffic far better - exactly our junctions at rush hour.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349240"/>
            <a:ext cx="10607040" cy="9144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45896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45309"/>
                </a:solidFill>
                <a:latin typeface="Segoe UI"/>
              </a:rPr>
              <a:t>Open-vocabulary  (research)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458968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Segoe UI"/>
              </a:rPr>
              <a:t>Grounding DINO, VLMs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544068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0F172A"/>
                </a:solidFill>
                <a:latin typeface="Segoe UI"/>
              </a:rPr>
              <a:t>Describe a new violation in words instead of collecting and labelling a dataset for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465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E7490"/>
                </a:solidFill>
                <a:latin typeface="Segoe UI"/>
              </a:rPr>
              <a:t>The hard part - the rules that refuse to guess - is the part that does not need replacing.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13_01_over_speeding_evidence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200" b="1">
                <a:solidFill>
                  <a:srgbClr val="0F172A"/>
                </a:solidFill>
                <a:latin typeface="Segoe UI"/>
              </a:rPr>
              <a:t>Safer roads, proven by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E7490"/>
                </a:solidFill>
                <a:latin typeface="Segoe UI"/>
              </a:rPr>
              <a:t>Real speed. Verified plates. Automatic challans, with the photograph attached.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7490"/>
                </a:solidFill>
                <a:latin typeface="Segoe UI"/>
              </a:rPr>
              <a:t>On cameras this country already owns.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Segoe UI"/>
              </a:rPr>
              <a:t>Thank you. We are happy to take your questions.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B6B84"/>
                </a:solidFill>
                <a:latin typeface="Segoe UI"/>
              </a:rPr>
              <a:t>Team Three Hacks  |  github.com/Jeba-Jebarsan/AI-SMART-TRAFFIC-INTELLIGENCE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