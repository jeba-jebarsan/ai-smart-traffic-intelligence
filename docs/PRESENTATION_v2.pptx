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2F6FF"/>
                </a:solidFill>
                <a:latin typeface="Segoe UI"/>
              </a:rPr>
              <a:t>AI Smart Traffic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D3EE"/>
                </a:solidFill>
                <a:latin typeface="Segoe UI"/>
              </a:rPr>
              <a:t>Turning any camera feed into fair, evidence-based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FB3D1"/>
                </a:solidFill>
                <a:latin typeface="Segoe UI"/>
              </a:rPr>
              <a:t>Team Three Hacks  |  Startup Innovation Competition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92040"/>
            <a:ext cx="265176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0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C74D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05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violation 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4892040"/>
            <a:ext cx="265176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5020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C74D"/>
                </a:solidFill>
                <a:latin typeface="Segoe UI"/>
              </a:rPr>
              <a:t>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605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automated tests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892040"/>
            <a:ext cx="265176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020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C74D"/>
                </a:solidFill>
                <a:latin typeface="Segoe UI"/>
              </a:rPr>
              <a:t>83-163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605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km/h speed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Every day, people die on roads a camera was watching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50" b="0">
                <a:solidFill>
                  <a:srgbClr val="F2F6FF"/>
                </a:solidFill>
                <a:latin typeface="Segoe UI"/>
              </a:rPr>
              <a:t>Sri Lanka records roughly </a:t>
            </a:r>
            <a:r>
              <a:rPr sz="1850" b="1">
                <a:solidFill>
                  <a:srgbClr val="F2F6FF"/>
                </a:solidFill>
                <a:latin typeface="Segoe UI"/>
              </a:rPr>
              <a:t>3,000 road deaths a year</a:t>
            </a:r>
            <a:r>
              <a:rPr sz="1850" b="0">
                <a:solidFill>
                  <a:srgbClr val="F2F6FF"/>
                </a:solidFill>
                <a:latin typeface="Segoe UI"/>
              </a:rPr>
              <a:t>, most of them from violations that are simple to see.</a:t>
            </a:r>
          </a:p>
          <a:p>
            <a:pPr algn="l">
              <a:spcAft>
                <a:spcPts val="1400"/>
              </a:spcAft>
            </a:pPr>
            <a:r>
              <a:rPr sz="1850" b="0">
                <a:solidFill>
                  <a:srgbClr val="F2F6FF"/>
                </a:solidFill>
                <a:latin typeface="Segoe UI"/>
              </a:rPr>
              <a:t>Officers cannot stand at every junction, 24 hours a day. Enforcement is limited by </a:t>
            </a:r>
            <a:r>
              <a:rPr sz="1850" b="1">
                <a:solidFill>
                  <a:srgbClr val="F2F6FF"/>
                </a:solidFill>
                <a:latin typeface="Segoe UI"/>
              </a:rPr>
              <a:t>how many people we can hire</a:t>
            </a:r>
            <a:r>
              <a:rPr sz="1850" b="0">
                <a:solidFill>
                  <a:srgbClr val="F2F6FF"/>
                </a:solidFill>
                <a:latin typeface="Segoe U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50" b="0">
                <a:solidFill>
                  <a:srgbClr val="F2F6FF"/>
                </a:solidFill>
                <a:latin typeface="Segoe UI"/>
              </a:rPr>
              <a:t>A fine written </a:t>
            </a:r>
            <a:r>
              <a:rPr sz="1850" b="1">
                <a:solidFill>
                  <a:srgbClr val="F2F6FF"/>
                </a:solidFill>
                <a:latin typeface="Segoe UI"/>
              </a:rPr>
              <a:t>without a photo and a verified plate</a:t>
            </a:r>
            <a:r>
              <a:rPr sz="1850" b="0">
                <a:solidFill>
                  <a:srgbClr val="F2F6FF"/>
                </a:solidFill>
                <a:latin typeface="Segoe UI"/>
              </a:rPr>
              <a:t> is argued about, and often never paid.</a:t>
            </a:r>
          </a:p>
          <a:p>
            <a:pPr algn="l">
              <a:spcAft>
                <a:spcPts val="1400"/>
              </a:spcAft>
            </a:pPr>
            <a:r>
              <a:rPr sz="1850" b="0">
                <a:solidFill>
                  <a:srgbClr val="F2F6FF"/>
                </a:solidFill>
                <a:latin typeface="Segoe UI"/>
              </a:rPr>
              <a:t>Nothing is recorded in a searchable way, so </a:t>
            </a:r>
            <a:r>
              <a:rPr sz="1850" b="1">
                <a:solidFill>
                  <a:srgbClr val="F2F6FF"/>
                </a:solidFill>
                <a:latin typeface="Segoe UI"/>
              </a:rPr>
              <a:t>repeat offenders stay invisible</a:t>
            </a:r>
            <a:r>
              <a:rPr sz="1850" b="0">
                <a:solidFill>
                  <a:srgbClr val="F2F6FF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C74D"/>
                </a:solidFill>
                <a:latin typeface="Segoe UI"/>
              </a:rPr>
              <a:t>The gap is not cameras. The gap is coverage and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What already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Colombo alone has </a:t>
            </a:r>
            <a:r>
              <a:rPr sz="1350" b="1">
                <a:solidFill>
                  <a:srgbClr val="F2F6FF"/>
                </a:solidFill>
                <a:latin typeface="Segoe UI"/>
              </a:rPr>
              <a:t>over 100 road cameras</a:t>
            </a:r>
            <a:r>
              <a:rPr sz="1350" b="0">
                <a:solidFill>
                  <a:srgbClr val="F2F6FF"/>
                </a:solidFill>
                <a:latin typeface="Segoe UI"/>
              </a:rPr>
              <a:t> already installed.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Police already issue spot fines - the </a:t>
            </a:r>
            <a:r>
              <a:rPr sz="1350" b="1">
                <a:solidFill>
                  <a:srgbClr val="F2F6FF"/>
                </a:solidFill>
                <a:latin typeface="Segoe UI"/>
              </a:rPr>
              <a:t>legal framework is in place</a:t>
            </a:r>
            <a:r>
              <a:rPr sz="1350" b="0">
                <a:solidFill>
                  <a:srgbClr val="F2F6FF"/>
                </a:solidFill>
                <a:latin typeface="Segoe U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Phones and drones make any road coverable today, with no civil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What is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Those cameras are </a:t>
            </a:r>
            <a:r>
              <a:rPr sz="1350" b="1">
                <a:solidFill>
                  <a:srgbClr val="F2F6FF"/>
                </a:solidFill>
                <a:latin typeface="Segoe UI"/>
              </a:rPr>
              <a:t>watched by a person, or by nobody at all</a:t>
            </a:r>
            <a:r>
              <a:rPr sz="1350" b="0">
                <a:solidFill>
                  <a:srgbClr val="F2F6FF"/>
                </a:solidFill>
                <a:latin typeface="Segoe U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There is no automatic path from camera to challan to payment.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Enforcement grows with headcount, not with technology.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C74D"/>
                </a:solidFill>
                <a:latin typeface="Segoe UI"/>
              </a:rPr>
              <a:t>We do not need new cameras. We need intelligence behind the ones already there.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F2F6FF"/>
                </a:solidFill>
                <a:latin typeface="Segoe UI"/>
              </a:rPr>
              <a:t>One AI pipeline on an ordinary camera detects </a:t>
            </a:r>
            <a:r>
              <a:rPr sz="1800" b="1">
                <a:solidFill>
                  <a:srgbClr val="F2F6FF"/>
                </a:solidFill>
                <a:latin typeface="Segoe UI"/>
              </a:rPr>
              <a:t>nine violation types</a:t>
            </a:r>
            <a:r>
              <a:rPr sz="1800" b="0">
                <a:solidFill>
                  <a:srgbClr val="F2F6FF"/>
                </a:solidFill>
                <a:latin typeface="Segoe U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F2F6FF"/>
                </a:solidFill>
                <a:latin typeface="Segoe UI"/>
              </a:rPr>
              <a:t>Reads </a:t>
            </a:r>
            <a:r>
              <a:rPr sz="1800" b="1">
                <a:solidFill>
                  <a:srgbClr val="F2F6FF"/>
                </a:solidFill>
                <a:latin typeface="Segoe UI"/>
              </a:rPr>
              <a:t>number plates on every vehicle</a:t>
            </a:r>
            <a:r>
              <a:rPr sz="1800" b="0">
                <a:solidFill>
                  <a:srgbClr val="F2F6FF"/>
                </a:solidFill>
                <a:latin typeface="Segoe UI"/>
              </a:rPr>
              <a:t>, not only on offenders.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F2F6FF"/>
                </a:solidFill>
                <a:latin typeface="Segoe UI"/>
              </a:rPr>
              <a:t>Measures </a:t>
            </a:r>
            <a:r>
              <a:rPr sz="1800" b="1">
                <a:solidFill>
                  <a:srgbClr val="F2F6FF"/>
                </a:solidFill>
                <a:latin typeface="Segoe UI"/>
              </a:rPr>
              <a:t>real road speed</a:t>
            </a:r>
            <a:r>
              <a:rPr sz="1800" b="0">
                <a:solidFill>
                  <a:srgbClr val="F2F6FF"/>
                </a:solidFill>
                <a:latin typeface="Segoe UI"/>
              </a:rPr>
              <a:t> using surveyed road geometry.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F2F6FF"/>
                </a:solidFill>
                <a:latin typeface="Segoe UI"/>
              </a:rPr>
              <a:t>Issues an </a:t>
            </a:r>
            <a:r>
              <a:rPr sz="1800" b="1">
                <a:solidFill>
                  <a:srgbClr val="F2F6FF"/>
                </a:solidFill>
                <a:latin typeface="Segoe UI"/>
              </a:rPr>
              <a:t>e-challan with stamped photographic evidence</a:t>
            </a:r>
            <a:r>
              <a:rPr sz="1800" b="0">
                <a:solidFill>
                  <a:srgbClr val="F2F6FF"/>
                </a:solidFill>
                <a:latin typeface="Segoe UI"/>
              </a:rPr>
              <a:t>, sent to the police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Camera  -&gt;  YOLOv8s  -&gt;  ByteTrack  -&gt;  Homography  -&gt;  Violation engine  -&gt;  ANPR  -&gt;  e-Challan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C74D"/>
                </a:solidFill>
                <a:latin typeface="Segoe UI"/>
              </a:rPr>
              <a:t>Runs on a single laptop CPU. No new hardware to install.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How it works, in six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429000" cy="169164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F6FF"/>
                </a:solidFill>
                <a:latin typeface="Segoe UI"/>
              </a:rPr>
              <a:t>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86207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YOLOv8s finds vehicles, riders, helmets and plates in each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965960"/>
            <a:ext cx="3429000" cy="169164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1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1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F6FF"/>
                </a:solidFill>
                <a:latin typeface="Segoe UI"/>
              </a:rPr>
              <a:t>Follow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1" y="286207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ByteTrack gives every vehicle an identity it keeps across frames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965960"/>
            <a:ext cx="3429000" cy="169164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1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F6FF"/>
                </a:solidFill>
                <a:latin typeface="Segoe UI"/>
              </a:rPr>
              <a:t>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286207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Four surveyed road corners turn pixels into real metres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31920"/>
            <a:ext cx="3429000" cy="169164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F6FF"/>
                </a:solidFill>
                <a:latin typeface="Segoe UI"/>
              </a:rPr>
              <a:t>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482803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Nine rules run, each with motion and persistence gates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3931920"/>
            <a:ext cx="3429000" cy="169164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1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1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F6FF"/>
                </a:solidFill>
                <a:latin typeface="Segoe UI"/>
              </a:rPr>
              <a:t>Identify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1" y="482803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OCR reads the plate; three agreeing reads confirm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931920"/>
            <a:ext cx="3429000" cy="169164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1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1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F6FF"/>
                </a:solidFill>
                <a:latin typeface="Segoe UI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1" y="482803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An e-challan with photo evidence is generated and emailed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C74D"/>
                </a:solidFill>
                <a:latin typeface="Segoe UI"/>
              </a:rPr>
              <a:t>Every step runs live. Nothing is pre-recorded and nothing is faked.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Nine violations, one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No Helmet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11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267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Triple Riding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011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267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Over Speeding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54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10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Red Light Jump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154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410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Wrong 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154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410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No Seatbelt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53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Mobile Phone 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297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553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Illegal Parking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297680"/>
            <a:ext cx="3383280" cy="91440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553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Driver Fatigue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FB3D1"/>
                </a:solidFill>
                <a:latin typeface="Segoe UI"/>
              </a:rPr>
              <a:t>Plus ANPR on every tracked vehicle, building a searchable enforcement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VERIFIED SYSTEM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Proof: over-speeding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2</a:t>
            </a:r>
          </a:p>
        </p:txBody>
      </p:sp>
      <p:pic>
        <p:nvPicPr>
          <p:cNvPr id="6" name="Picture 5" descr="01_over_speeding_evidenc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83080"/>
            <a:ext cx="68275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3D1"/>
                </a:solidFill>
                <a:latin typeface="Segoe UI"/>
              </a:rPr>
              <a:t>134.0 km/h in a 60 zone - vehicle boxed, plate zoomed, proof stamped onto the image. </a:t>
            </a:r>
            <a:r>
              <a:rPr sz="1400" b="1">
                <a:solidFill>
                  <a:srgbClr val="9FB3D1"/>
                </a:solidFill>
                <a:latin typeface="Segoe UI"/>
              </a:rPr>
              <a:t>7 events</a:t>
            </a:r>
            <a:r>
              <a:rPr sz="1400" b="0">
                <a:solidFill>
                  <a:srgbClr val="9FB3D1"/>
                </a:solidFill>
                <a:latin typeface="Segoe UI"/>
              </a:rPr>
              <a:t> measured at </a:t>
            </a:r>
            <a:r>
              <a:rPr sz="1400" b="1">
                <a:solidFill>
                  <a:srgbClr val="9FB3D1"/>
                </a:solidFill>
                <a:latin typeface="Segoe UI"/>
              </a:rPr>
              <a:t>83-163 km/h</a:t>
            </a:r>
            <a:r>
              <a:rPr sz="1400" b="0">
                <a:solidFill>
                  <a:srgbClr val="9FB3D1"/>
                </a:solidFill>
                <a:latin typeface="Segoe UI"/>
              </a:rPr>
              <a:t> across two calibrated cameras.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HOW THE NUMBER IS 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Proof: speed is measured, not guessed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2</a:t>
            </a:r>
          </a:p>
        </p:txBody>
      </p:sp>
      <p:pic>
        <p:nvPicPr>
          <p:cNvPr id="6" name="Picture 5" descr="09_highway_speed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83080"/>
            <a:ext cx="68275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3D1"/>
                </a:solidFill>
                <a:latin typeface="Segoe UI"/>
              </a:rPr>
              <a:t>We survey four road corners and map pixels to metres, then fit distance against time across many frames and reject outliers. Replay accuracy: </a:t>
            </a:r>
            <a:r>
              <a:rPr sz="1400" b="1">
                <a:solidFill>
                  <a:srgbClr val="9FB3D1"/>
                </a:solidFill>
                <a:latin typeface="Segoe UI"/>
              </a:rPr>
              <a:t>0.99-1.01x true speed</a:t>
            </a:r>
            <a:r>
              <a:rPr sz="1400" b="0">
                <a:solidFill>
                  <a:srgbClr val="9FB3D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VERIFIED SYSTEM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Proof: helmet and triple riding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2</a:t>
            </a:r>
          </a:p>
        </p:txBody>
      </p:sp>
      <p:pic>
        <p:nvPicPr>
          <p:cNvPr id="6" name="Picture 5" descr="07_image_upload_triple_helm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83080"/>
            <a:ext cx="57607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3D1"/>
                </a:solidFill>
                <a:latin typeface="Segoe UI"/>
              </a:rPr>
              <a:t>Both violations detected from a </a:t>
            </a:r>
            <a:r>
              <a:rPr sz="1400" b="1">
                <a:solidFill>
                  <a:srgbClr val="9FB3D1"/>
                </a:solidFill>
                <a:latin typeface="Segoe UI"/>
              </a:rPr>
              <a:t>single photograph</a:t>
            </a:r>
            <a:r>
              <a:rPr sz="1400" b="0">
                <a:solidFill>
                  <a:srgbClr val="9FB3D1"/>
                </a:solidFill>
                <a:latin typeface="Segoe UI"/>
              </a:rPr>
              <a:t>, producing </a:t>
            </a:r>
            <a:r>
              <a:rPr sz="1400" b="1">
                <a:solidFill>
                  <a:srgbClr val="9FB3D1"/>
                </a:solidFill>
                <a:latin typeface="Segoe UI"/>
              </a:rPr>
              <a:t>two separate challans</a:t>
            </a:r>
            <a:r>
              <a:rPr sz="1400" b="0">
                <a:solidFill>
                  <a:srgbClr val="9FB3D1"/>
                </a:solidFill>
                <a:latin typeface="Segoe UI"/>
              </a:rPr>
              <a:t>. Riders are matched to their motorcycle geometrically, so a bystander on the pavement is never counted.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NOT JUST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Proof: it can tell helmet from no helmet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2</a:t>
            </a:r>
          </a:p>
        </p:txBody>
      </p:sp>
      <p:pic>
        <p:nvPicPr>
          <p:cNvPr id="6" name="Picture 5" descr="08_helmet_discrimin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83080"/>
            <a:ext cx="682752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3D1"/>
                </a:solidFill>
                <a:latin typeface="Segoe UI"/>
              </a:rPr>
              <a:t>In the same frame, a helmeted rider is passed and a bare-headed rider is fined. </a:t>
            </a:r>
            <a:r>
              <a:rPr sz="1400" b="1">
                <a:solidFill>
                  <a:srgbClr val="9FB3D1"/>
                </a:solidFill>
                <a:latin typeface="Segoe UI"/>
              </a:rPr>
              <a:t>Anyone can draw a box. Judging correctly is the hard part.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ANPR ON A REAL SRI LANKAN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Proof: number-plate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2</a:t>
            </a:r>
          </a:p>
        </p:txBody>
      </p:sp>
      <p:pic>
        <p:nvPicPr>
          <p:cNvPr id="6" name="Picture 5" descr="05_anpr_sri_lanka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83080"/>
            <a:ext cx="512064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FB3D1"/>
                </a:solidFill>
                <a:latin typeface="Segoe UI"/>
              </a:rPr>
              <a:t>150 vehicles tracked; plates </a:t>
            </a:r>
            <a:r>
              <a:rPr sz="1400" b="1">
                <a:solidFill>
                  <a:srgbClr val="9FB3D1"/>
                </a:solidFill>
                <a:latin typeface="Segoe UI"/>
              </a:rPr>
              <a:t>AAG 4002</a:t>
            </a:r>
            <a:r>
              <a:rPr sz="1400" b="0">
                <a:solidFill>
                  <a:srgbClr val="9FB3D1"/>
                </a:solidFill>
                <a:latin typeface="Segoe UI"/>
              </a:rPr>
              <a:t> and </a:t>
            </a:r>
            <a:r>
              <a:rPr sz="1400" b="1">
                <a:solidFill>
                  <a:srgbClr val="9FB3D1"/>
                </a:solidFill>
                <a:latin typeface="Segoe UI"/>
              </a:rPr>
              <a:t>BBJ 8752</a:t>
            </a:r>
            <a:r>
              <a:rPr sz="1400" b="0">
                <a:solidFill>
                  <a:srgbClr val="9FB3D1"/>
                </a:solidFill>
                <a:latin typeface="Segoe UI"/>
              </a:rPr>
              <a:t> read and confirmed. A plate is written to a challan only when </a:t>
            </a:r>
            <a:r>
              <a:rPr sz="1400" b="1">
                <a:solidFill>
                  <a:srgbClr val="9FB3D1"/>
                </a:solidFill>
                <a:latin typeface="Segoe UI"/>
              </a:rPr>
              <a:t>three separate reads agree</a:t>
            </a:r>
            <a:r>
              <a:rPr sz="1400" b="0">
                <a:solidFill>
                  <a:srgbClr val="9FB3D1"/>
                </a:solidFill>
                <a:latin typeface="Segoe UI"/>
              </a:rPr>
              <a:t> - otherwise it says UNREADABLE.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AN HONEST ENGINEERING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Every rule needs the right camera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2F6FF"/>
                </a:solidFill>
                <a:latin typeface="Segoe UI"/>
              </a:rPr>
              <a:t>Helmet, triple riding,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74519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Any view where the rider is visible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7451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2D3EE"/>
                </a:solidFill>
                <a:latin typeface="Segoe UI"/>
              </a:rPr>
              <a:t>Demonstrated on real footage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2F6FF"/>
                </a:solidFill>
                <a:latin typeface="Segoe UI"/>
              </a:rPr>
              <a:t>Over speeding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770632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Four surveyed road corners, so pixels become metres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77063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2D3EE"/>
                </a:solidFill>
                <a:latin typeface="Segoe UI"/>
              </a:rPr>
              <a:t>Demonstrated - 83-163 km/h on two cameras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2F6FF"/>
                </a:solidFill>
                <a:latin typeface="Segoe UI"/>
              </a:rPr>
              <a:t>No seatbelt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666744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A view through the windscreen at the driver's chest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66674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2D3EE"/>
                </a:solidFill>
                <a:latin typeface="Segoe UI"/>
              </a:rPr>
              <a:t>Implemented and tested; needs front-facing footage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62856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2F6FF"/>
                </a:solidFill>
                <a:latin typeface="Segoe UI"/>
              </a:rPr>
              <a:t>Illegal parking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562856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A fixed camera, so stillness can be proven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562856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2D3EE"/>
                </a:solidFill>
                <a:latin typeface="Segoe UI"/>
              </a:rPr>
              <a:t>Implemented and tested; handheld video cannot prove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5896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F2F6FF"/>
                </a:solidFill>
                <a:latin typeface="Segoe UI"/>
              </a:rPr>
              <a:t>Red light jump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458968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FB3D1"/>
                </a:solidFill>
                <a:latin typeface="Segoe UI"/>
              </a:rPr>
              <a:t>Knowing which signal head governs which 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4589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22D3EE"/>
                </a:solidFill>
                <a:latin typeface="Segoe UI"/>
              </a:rPr>
              <a:t>Implemented; needs per-junction 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74D"/>
                </a:solidFill>
                <a:latin typeface="Segoe UI"/>
              </a:rPr>
              <a:t>All nine rules are built and unit-tested. We demonstrate only what our footage genuinely contains.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REAL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Why it can be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Parked vehicles are never fined</a:t>
            </a:r>
            <a:r>
              <a:rPr sz="1700" b="0">
                <a:solidFill>
                  <a:srgbClr val="F2F6FF"/>
                </a:solidFill>
                <a:latin typeface="Segoe UI"/>
              </a:rPr>
              <a:t> - 41 vehicles, 0 violations on a parked-motorcycle clip.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Unreadable plates say UNREADABLE</a:t>
            </a:r>
            <a:r>
              <a:rPr sz="1700" b="0">
                <a:solidFill>
                  <a:srgbClr val="F2F6FF"/>
                </a:solidFill>
                <a:latin typeface="Segoe UI"/>
              </a:rPr>
              <a:t> - a number is never invented.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No calibration means no speed shown</a:t>
            </a:r>
            <a:r>
              <a:rPr sz="1700" b="0">
                <a:solidFill>
                  <a:srgbClr val="F2F6FF"/>
                </a:solidFill>
                <a:latin typeface="Segoe UI"/>
              </a:rPr>
              <a:t>, rather than a misleading guess.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A violation must persist across frames</a:t>
            </a:r>
            <a:r>
              <a:rPr sz="1700" b="0">
                <a:solidFill>
                  <a:srgbClr val="F2F6FF"/>
                </a:solidFill>
                <a:latin typeface="Segoe UI"/>
              </a:rPr>
              <a:t> - one-frame anomalies rejected.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2F6FF"/>
                </a:solidFill>
                <a:latin typeface="Segoe UI"/>
              </a:rPr>
              <a:t>No mock data exists</a:t>
            </a:r>
            <a:r>
              <a:rPr sz="1700" b="0">
                <a:solidFill>
                  <a:srgbClr val="F2F6FF"/>
                </a:solidFill>
                <a:latin typeface="Segoe UI"/>
              </a:rPr>
              <a:t> anywhere in the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74920"/>
            <a:ext cx="329184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FFC74D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false-positive defects found and fixed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5074920"/>
            <a:ext cx="329184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4ADE80"/>
                </a:solidFill>
                <a:latin typeface="Segoe UI"/>
              </a:rPr>
              <a:t>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automated tests passing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5074920"/>
            <a:ext cx="3291840" cy="1234440"/>
          </a:xfrm>
          <a:prstGeom prst="rect">
            <a:avLst/>
          </a:prstGeom>
          <a:solidFill>
            <a:srgbClr val="111E3D"/>
          </a:solidFill>
          <a:ln>
            <a:solidFill>
              <a:srgbClr val="294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2D3EE"/>
                </a:solidFill>
                <a:latin typeface="Segoe U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FB3D1"/>
                </a:solidFill>
                <a:latin typeface="Segoe UI"/>
              </a:rPr>
              <a:t>violations on parked bikes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ENGINEERING RIGOUR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Found by testing on real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Moving vehicles fined for parking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7451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Motion gate misjudged 89% of moving vehicles as stationary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Helmeted riders accused of no helmet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74320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Helmet crop was catching neighbouring riders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7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Bare heads marked compliant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61187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Compliance threshold was lower than the accusation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805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Stopped car fined for a red 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48055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A signal from a different approach was applied to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2F6FF"/>
                </a:solidFill>
                <a:latin typeface="Segoe UI"/>
              </a:rPr>
              <a:t>Wrong plate numbers on challans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53492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FB3D1"/>
                </a:solidFill>
                <a:latin typeface="Segoe UI"/>
              </a:rPr>
              <a:t>Two agreeing OCR reads could both be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We fixed cases where our own system accused the wrong person. Each is now a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INNOVATION AND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What makes it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Typical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Single purpose - a speed camera, or a plate reader.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Report a number with no proof attached.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Demo well, then fail on real roads with false positives.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Need dedicated hardware installed at each site.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Nine rules in one pipeline</a:t>
            </a:r>
            <a:r>
              <a:rPr sz="1350" b="0">
                <a:solidFill>
                  <a:srgbClr val="F2F6FF"/>
                </a:solidFill>
                <a:latin typeface="Segoe UI"/>
              </a:rPr>
              <a:t>, on any camera.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Evidence-first</a:t>
            </a:r>
            <a:r>
              <a:rPr sz="1350" b="0">
                <a:solidFill>
                  <a:srgbClr val="F2F6FF"/>
                </a:solidFill>
                <a:latin typeface="Segoe UI"/>
              </a:rPr>
              <a:t>: every fine carries a stamped photo and plate crop.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Engineered to refuse</a:t>
            </a:r>
            <a:r>
              <a:rPr sz="1350" b="0">
                <a:solidFill>
                  <a:srgbClr val="F2F6FF"/>
                </a:solidFill>
                <a:latin typeface="Segoe UI"/>
              </a:rPr>
              <a:t> - it reports only what it can prove.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Runs on cameras that already exist</a:t>
            </a:r>
            <a:r>
              <a:rPr sz="1350" b="0">
                <a:solidFill>
                  <a:srgbClr val="F2F6FF"/>
                </a:solidFill>
                <a:latin typeface="Segoe UI"/>
              </a:rPr>
              <a:t>, on a laptop CPU.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TARGET USERS AND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Who it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Primary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Sri Lanka Police traffic division</a:t>
            </a:r>
            <a:r>
              <a:rPr sz="1350" b="0">
                <a:solidFill>
                  <a:srgbClr val="F2F6FF"/>
                </a:solidFill>
                <a:latin typeface="Segoe UI"/>
              </a:rPr>
              <a:t> - automated enforcement on existing junction cameras.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Road Development Authority and municipal councils</a:t>
            </a:r>
            <a:r>
              <a:rPr sz="1350" b="0">
                <a:solidFill>
                  <a:srgbClr val="F2F6FF"/>
                </a:solidFill>
                <a:latin typeface="Segoe UI"/>
              </a:rPr>
              <a:t> - highway corridors, school and hospital zones.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Commercial fleet operators</a:t>
            </a:r>
            <a:r>
              <a:rPr sz="1350" b="0">
                <a:solidFill>
                  <a:srgbClr val="F2F6FF"/>
                </a:solidFill>
                <a:latin typeface="Segoe UI"/>
              </a:rPr>
              <a:t> - seatbelt and fatigue compliance for buses and lorries.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Why they buy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Enforcement reach without hiring proportionally more officers.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Evidence that survives dispute, so fines are actually collected.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Data on where violations concentrate, to target scarce resources.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Fleet operators cut insurance exposure and liability.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C74D"/>
                </a:solidFill>
                <a:latin typeface="Segoe UI"/>
              </a:rPr>
              <a:t>Entry point: a single pilot junction. Expansion: corridor, then city.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HOW IT SUSTAINS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0607040" cy="86868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385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Pilot deployment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9568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One-off setup and calibration per camera site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10607040" cy="86868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9008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Annual software licence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00837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Per-camera subscription covering updates and model improvements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931920"/>
            <a:ext cx="10607040" cy="86868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4164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Support and analytics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05993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Dashboards, reporting and repeat-offender analytics for authorities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983479"/>
            <a:ext cx="10607040" cy="86868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93207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Fleet compliance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5111495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Per-vehicle monitoring sold to commercial operators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72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74D"/>
                </a:solidFill>
                <a:latin typeface="Segoe UI"/>
              </a:rPr>
              <a:t>Cost advantage: no new cameras and no per-site hardware, so a pilot is software and calibration only.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ECONOMIC, SOCIAL, ENVIRONMENTAL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Economically self-sustaining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Runs on </a:t>
            </a:r>
            <a:r>
              <a:rPr sz="1350" b="1">
                <a:solidFill>
                  <a:srgbClr val="F2F6FF"/>
                </a:solidFill>
                <a:latin typeface="Segoe UI"/>
              </a:rPr>
              <a:t>infrastructure already paid for</a:t>
            </a:r>
            <a:r>
              <a:rPr sz="1350" b="0">
                <a:solidFill>
                  <a:srgbClr val="F2F6FF"/>
                </a:solidFill>
                <a:latin typeface="Segoe U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One laptop starts a pilot; no civil works, no gantries.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F2F6FF"/>
                </a:solidFill>
                <a:latin typeface="Segoe UI"/>
              </a:rPr>
              <a:t>Recovered fines fund expansion without new capital.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111E3D"/>
          </a:solidFill>
          <a:ln>
            <a:solidFill>
              <a:srgbClr val="0B1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Socially and environmentally sound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Fairness</a:t>
            </a:r>
            <a:r>
              <a:rPr sz="1350" b="0">
                <a:solidFill>
                  <a:srgbClr val="F2F6FF"/>
                </a:solidFill>
                <a:latin typeface="Segoe UI"/>
              </a:rPr>
              <a:t>: identical rules for every driver, no discretion.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Fewer deaths</a:t>
            </a:r>
            <a:r>
              <a:rPr sz="1350" b="0">
                <a:solidFill>
                  <a:srgbClr val="F2F6FF"/>
                </a:solidFill>
                <a:latin typeface="Segoe UI"/>
              </a:rPr>
              <a:t> through deterrence, not punishment.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Lower emissions</a:t>
            </a:r>
            <a:r>
              <a:rPr sz="1350" b="0">
                <a:solidFill>
                  <a:srgbClr val="F2F6FF"/>
                </a:solidFill>
                <a:latin typeface="Segoe UI"/>
              </a:rPr>
              <a:t> - smoother traffic, fewer crash-related jams.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F2F6FF"/>
                </a:solidFill>
                <a:latin typeface="Segoe UI"/>
              </a:rPr>
              <a:t>Privacy-respecting</a:t>
            </a:r>
            <a:r>
              <a:rPr sz="1350" b="0">
                <a:solidFill>
                  <a:srgbClr val="F2F6FF"/>
                </a:solidFill>
                <a:latin typeface="Segoe UI"/>
              </a:rPr>
              <a:t>: plates confirmed three times or marked unreadable; no identity inference.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2F6FF"/>
                </a:solidFill>
                <a:latin typeface="Segoe UI"/>
              </a:rPr>
              <a:t>Scalability and future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84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9FB3D1"/>
                </a:solidFill>
                <a:latin typeface="Segoe UI"/>
              </a:rPr>
              <a:t>Speaker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74D"/>
                </a:solidFill>
                <a:latin typeface="Segoe U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9202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F2F6FF"/>
                </a:solidFill>
                <a:latin typeface="Segoe UI"/>
              </a:rPr>
              <a:t>Working system, 79 tests, verified on real Sri Lankan road footage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74D"/>
                </a:solidFill>
                <a:latin typeface="Segoe UI"/>
              </a:rPr>
              <a:t>Next 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7180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F2F6FF"/>
                </a:solidFill>
                <a:latin typeface="Segoe UI"/>
              </a:rPr>
              <a:t>Live pilot at one signalised junction with police partnership; night and rain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74D"/>
                </a:solidFill>
                <a:latin typeface="Segoe UI"/>
              </a:rPr>
              <a:t>6-12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02336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F2F6FF"/>
                </a:solidFill>
                <a:latin typeface="Segoe UI"/>
              </a:rPr>
              <a:t>Corridor deployment on GPU edge boxes; a trained three-wheeler class for local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74D"/>
                </a:solidFill>
                <a:latin typeface="Segoe UI"/>
              </a:rPr>
              <a:t>Beyond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07492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F2F6FF"/>
                </a:solidFill>
                <a:latin typeface="Segoe UI"/>
              </a:rPr>
              <a:t>City-wide multi-camera dashboard; vision-language models for ambiguous cases; export to comparable South Asian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17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Each camera added is software only - marginal cost falls as coverage grows.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2F6FF"/>
                </a:solidFill>
                <a:latin typeface="Segoe UI"/>
              </a:rPr>
              <a:t>Safer roads, proven by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D3EE"/>
                </a:solidFill>
                <a:latin typeface="Segoe UI"/>
              </a:rPr>
              <a:t>Nine violation types. Real speed. Verified plates. Automatic challans.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C74D"/>
                </a:solidFill>
                <a:latin typeface="Segoe UI"/>
              </a:rPr>
              <a:t>On cameras this country already owns.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2F6FF"/>
                </a:solidFill>
                <a:latin typeface="Segoe UI"/>
              </a:rPr>
              <a:t>Thank you. We are happy to take your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D1"/>
                </a:solidFill>
                <a:latin typeface="Segoe UI"/>
              </a:rPr>
              <a:t>Team Three Hacks  |  github.com/Jeba-Jebarsan/AI-SMART-TRAFFIC-INTELLIGENCE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