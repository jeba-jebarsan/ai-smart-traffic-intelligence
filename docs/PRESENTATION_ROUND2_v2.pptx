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15_12_junction_cctv_cle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002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E7490"/>
                </a:solidFill>
                <a:latin typeface="Segoe UI"/>
              </a:rPr>
              <a:t>SECOND 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5156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200" b="1">
                <a:solidFill>
                  <a:srgbClr val="0F172A"/>
                </a:solidFill>
                <a:latin typeface="Segoe UI"/>
              </a:rPr>
              <a:t>From a system that works to a business that ships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0E7490"/>
                </a:solidFill>
                <a:latin typeface="Segoe UI"/>
              </a:rPr>
              <a:t>AI Smart Traffic Intelligence Platform  -  how it gets onto Sri Lanka's roads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029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172A"/>
                </a:solidFill>
                <a:latin typeface="Segoe UI"/>
              </a:rPr>
              <a:t>Team Three Hacks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B6B84"/>
                </a:solidFill>
                <a:latin typeface="Segoe UI"/>
              </a:rPr>
              <a:t>Startup Innovation Competition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WHAT THIS DECK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You asked us seven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74519"/>
            <a:ext cx="10652760" cy="4572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956815"/>
            <a:ext cx="766358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The question you put to 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88298" y="1956815"/>
            <a:ext cx="116540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Part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73157" y="1956815"/>
            <a:ext cx="116540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Slide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31719"/>
            <a:ext cx="106527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2414015"/>
            <a:ext cx="766358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Who is the customer, and how do you sell it?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88298" y="2414015"/>
            <a:ext cx="116540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73157" y="2414015"/>
            <a:ext cx="116540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788919"/>
            <a:ext cx="1065276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871215"/>
            <a:ext cx="766358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How do you connect with the Sri Lanka Police?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88298" y="2871215"/>
            <a:ext cx="116540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73157" y="2871215"/>
            <a:ext cx="116540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5-7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246119"/>
            <a:ext cx="106527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" y="3328415"/>
            <a:ext cx="766358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How do you import data from existing CCTV?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88298" y="3328415"/>
            <a:ext cx="116540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73157" y="3328415"/>
            <a:ext cx="116540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10-11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703319"/>
            <a:ext cx="1065276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" y="3785615"/>
            <a:ext cx="766358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At scale, where does the zone data come from?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88298" y="3785615"/>
            <a:ext cx="116540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73157" y="3785615"/>
            <a:ext cx="116540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13-15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160519"/>
            <a:ext cx="106527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242815"/>
            <a:ext cx="766358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Revenue model - your cost, your earnings from one province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88298" y="4242815"/>
            <a:ext cx="116540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73157" y="4242815"/>
            <a:ext cx="116540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18-23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4617719"/>
            <a:ext cx="1065276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5256" y="4700015"/>
            <a:ext cx="766358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SWOT analysis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88298" y="4700015"/>
            <a:ext cx="116540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73157" y="4700015"/>
            <a:ext cx="116540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27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" y="5074919"/>
            <a:ext cx="106527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" y="5157215"/>
            <a:ext cx="766358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How do you implement it in the real world?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788298" y="5157215"/>
            <a:ext cx="116540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73157" y="5157215"/>
            <a:ext cx="116540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532119"/>
            <a:ext cx="1065276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5614415"/>
            <a:ext cx="766358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What challenges will you face?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788298" y="5614415"/>
            <a:ext cx="116540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73157" y="5614415"/>
            <a:ext cx="116540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5852160"/>
            <a:ext cx="10652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E7490"/>
                </a:solidFill>
                <a:latin typeface="Segoe UI"/>
              </a:rPr>
              <a:t>We have not re-pitched the detection. You already said it works. This is how it reaches a road.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331720"/>
            <a:ext cx="91440" cy="18288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2860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E7490"/>
                </a:solidFill>
                <a:latin typeface="Segoe U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0F172A"/>
                </a:solidFill>
                <a:latin typeface="Segoe UI"/>
              </a:rPr>
              <a:t>Business strategy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03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B6B84"/>
                </a:solidFill>
                <a:latin typeface="Segoe UI"/>
              </a:rPr>
              <a:t>Who will buy this, and how do we get to them?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THE CUSTOMER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Who benefits is not who signs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74519"/>
            <a:ext cx="10652760" cy="47548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956815"/>
            <a:ext cx="233720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Segment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61918" y="1956815"/>
            <a:ext cx="212415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Who signs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5525" y="1956815"/>
            <a:ext cx="38285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Why they buy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53574" y="1956815"/>
            <a:ext cx="148498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Cycle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350007"/>
            <a:ext cx="106527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2432303"/>
            <a:ext cx="233720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Municipal councils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61918" y="2432303"/>
            <a:ext cx="212415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Municipal Commissioner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05525" y="2432303"/>
            <a:ext cx="38285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Own CCTV, get no value from 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853574" y="2432303"/>
            <a:ext cx="148498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1-3 months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825495"/>
            <a:ext cx="10652760" cy="47548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907791"/>
            <a:ext cx="233720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Sri Lanka Police - Traffic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61918" y="2907791"/>
            <a:ext cx="212415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Ministry of Public 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5525" y="2907791"/>
            <a:ext cx="38285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Manpower gap; needs evidence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53574" y="2907791"/>
            <a:ext cx="148498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12-24 months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300983"/>
            <a:ext cx="106527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" y="3383279"/>
            <a:ext cx="233720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RDA / Expressways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61918" y="3383279"/>
            <a:ext cx="212415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Expressway Division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5525" y="3383279"/>
            <a:ext cx="38285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Speed enforcement already budgeted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53574" y="3383279"/>
            <a:ext cx="148498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6-12 months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776471"/>
            <a:ext cx="10652760" cy="47548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858767"/>
            <a:ext cx="233720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Private fleets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61918" y="3858767"/>
            <a:ext cx="212415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Fleet owner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05525" y="3858767"/>
            <a:ext cx="38285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Insurance, liability, driver behaviour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53574" y="3858767"/>
            <a:ext cx="148498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2-6 weeks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251959"/>
            <a:ext cx="106527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" y="4334255"/>
            <a:ext cx="233720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Insurers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61918" y="4334255"/>
            <a:ext cx="212415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Head of Motor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05525" y="4334255"/>
            <a:ext cx="38285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Better risk pricing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853574" y="4334255"/>
            <a:ext cx="148498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3-6 months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" y="4727447"/>
            <a:ext cx="10652760" cy="47548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5256" y="4809743"/>
            <a:ext cx="233720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Campuses, ports, BOI zones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61918" y="4809743"/>
            <a:ext cx="212415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Facilities head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05525" y="4809743"/>
            <a:ext cx="38285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Private roads - no legal complexity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853574" y="4809743"/>
            <a:ext cx="148498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2-6 weeks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202935"/>
            <a:ext cx="10652760" cy="47548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5256" y="5285231"/>
            <a:ext cx="233720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Donor programmes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61918" y="5285231"/>
            <a:ext cx="2124151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Programme manager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05525" y="5285231"/>
            <a:ext cx="38285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Road-safety targets with money attached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853574" y="5285231"/>
            <a:ext cx="1484985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6-12 months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943600"/>
            <a:ext cx="10652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E7490"/>
                </a:solidFill>
                <a:latin typeface="Segoe UI"/>
              </a:rPr>
              <a:t>The police are the biggest customer and the slowest customer. Three students cannot live two years on no revenue - so we run two tracks.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GETTING TO THE SRI LANKA POLICE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We do not ask for a contract. We climb a ladder.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55648"/>
            <a:ext cx="10652760" cy="1042415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874519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E7490"/>
                </a:solidFill>
                <a:latin typeface="Segoe UI"/>
              </a:rPr>
              <a:t>MONTH 0-3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06040" y="1837943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Give away evidence, not enforcement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06040" y="2231136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B84"/>
                </a:solidFill>
                <a:latin typeface="Segoe UI"/>
              </a:rPr>
              <a:t>Free 30-day road-safety audit at one junction for one council. We issue ZERO fines. They get data they have never had. Nobody has to be brave to say yes.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889504"/>
            <a:ext cx="10652760" cy="1042415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3008376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E7490"/>
                </a:solidFill>
                <a:latin typeface="Segoe UI"/>
              </a:rPr>
              <a:t>MONTH 3-6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06040" y="297180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Get a named champion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3364992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B84"/>
                </a:solidFill>
                <a:latin typeface="Segoe UI"/>
              </a:rPr>
              <a:t>Take that report to the National Council for Road Safety and Police Traffic HQ. Ask for one thing that costs them nothing: a letter of support.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4023360"/>
            <a:ext cx="10652760" cy="1042415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142232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E7490"/>
                </a:solidFill>
                <a:latin typeface="Segoe UI"/>
              </a:rPr>
              <a:t>MONTH 6-12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4105656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Supervised enforcement 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4498848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B84"/>
                </a:solidFill>
                <a:latin typeface="Segoe UI"/>
              </a:rPr>
              <a:t>One division. Cameras we control. Every challan approved by an officer. We publish officer-time saved and the fall in the violation rate.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5157216"/>
            <a:ext cx="10652760" cy="1042415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5276088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0E7490"/>
                </a:solidFill>
                <a:latin typeface="Segoe UI"/>
              </a:rPr>
              <a:t>MONTH 12-24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06040" y="5239512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50" b="1">
                <a:solidFill>
                  <a:srgbClr val="0F172A"/>
                </a:solidFill>
                <a:latin typeface="Segoe UI"/>
              </a:rPr>
              <a:t>Procurement - through a partner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06040" y="5632704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B84"/>
                </a:solidFill>
                <a:latin typeface="Segoe UI"/>
              </a:rPr>
              <a:t>Sub-contract under an integrator who already holds government vendor registration. Turns a two-year procurement problem into a two-month partnership.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6291072"/>
            <a:ext cx="10652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0E7490"/>
                </a:solidFill>
                <a:latin typeface="Segoe UI"/>
              </a:rPr>
              <a:t>Each rung is something the other side can say yes to without spending money or taking a risk.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E7490"/>
                </a:solidFill>
                <a:latin typeface="Segoe UI"/>
              </a:rPr>
              <a:t>THE DESIGN DECISION THAT MAKES ENFORCEMENT POSSIBLE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060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0F172A"/>
                </a:solidFill>
                <a:latin typeface="Segoe UI"/>
              </a:rPr>
              <a:t>The AI proposes. A police officer decides.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49039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0F172A"/>
                </a:solidFill>
                <a:latin typeface="Segoe UI"/>
              </a:rPr>
              <a:t>Every challan appears in an officer's review queue with the photograph, the rule and the confidence. It becomes a fine only when a human presses approve.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5074920"/>
            <a:ext cx="2514600" cy="10515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518464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E7490"/>
                </a:solidFill>
                <a:latin typeface="Segoe UI"/>
              </a:rPr>
              <a:t>Legal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1832" y="55321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B84"/>
                </a:solidFill>
                <a:latin typeface="Segoe UI"/>
              </a:rPr>
              <a:t>Evidence Act No. 14 of 1995 - a human is accountable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0" y="5074920"/>
            <a:ext cx="2514600" cy="10515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9312" y="518464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E7490"/>
                </a:solidFill>
                <a:latin typeface="Segoe UI"/>
              </a:rPr>
              <a:t>Trust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9312" y="55321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B84"/>
                </a:solidFill>
                <a:latin typeface="Segoe UI"/>
              </a:rPr>
              <a:t>No citizen is fined by a machine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5074920"/>
            <a:ext cx="2514600" cy="10515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518464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E7490"/>
                </a:solidFill>
                <a:latin typeface="Segoe UI"/>
              </a:rPr>
              <a:t>Accuracy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55321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B84"/>
                </a:solidFill>
                <a:latin typeface="Segoe UI"/>
              </a:rPr>
              <a:t>Officer rejections measure our false-positive rate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869680" y="5074920"/>
            <a:ext cx="2514600" cy="10515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34272" y="518464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E7490"/>
                </a:solidFill>
                <a:latin typeface="Segoe UI"/>
              </a:rPr>
              <a:t>Politics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34272" y="55321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B6B84"/>
                </a:solidFill>
                <a:latin typeface="Segoe UI"/>
              </a:rPr>
              <a:t>Kills the 'a robot fined me' headline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HOW WE STAY ALIVE FOR TWO YEARS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The private track funds the government track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920240"/>
            <a:ext cx="5166360" cy="32004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33272" y="212140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E7490"/>
                </a:solidFill>
                <a:latin typeface="Segoe UI"/>
              </a:rPr>
              <a:t>GOVERNMENT TRACK  -  the prize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" y="2697480"/>
            <a:ext cx="4663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300" b="0">
                <a:solidFill>
                  <a:srgbClr val="0F172A"/>
                </a:solidFill>
                <a:latin typeface="Segoe UI"/>
              </a:rPr>
              <a:t>Councils, Police, RDA, expressways</a:t>
            </a:r>
          </a:p>
          <a:p>
            <a:pPr algn="l">
              <a:spcAft>
                <a:spcPts val="1100"/>
              </a:spcAft>
            </a:pPr>
            <a:r>
              <a:rPr sz="1300" b="0">
                <a:solidFill>
                  <a:srgbClr val="0F172A"/>
                </a:solidFill>
                <a:latin typeface="Segoe UI"/>
              </a:rPr>
              <a:t>12-24 month cycle, tenders, bonds, audited accounts</a:t>
            </a:r>
          </a:p>
          <a:p>
            <a:pPr algn="l">
              <a:spcAft>
                <a:spcPts val="1100"/>
              </a:spcAft>
            </a:pPr>
            <a:r>
              <a:rPr sz="1300" b="0">
                <a:solidFill>
                  <a:srgbClr val="0F172A"/>
                </a:solidFill>
                <a:latin typeface="Segoe UI"/>
              </a:rPr>
              <a:t>Buys legitimacy, scale and the reference every other market wants</a:t>
            </a:r>
          </a:p>
          <a:p>
            <a:pPr algn="l">
              <a:spcAft>
                <a:spcPts val="11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Pays us in year 2, not year 1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920240"/>
            <a:ext cx="5166360" cy="32004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212140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5803D"/>
                </a:solidFill>
                <a:latin typeface="Segoe UI"/>
              </a:rPr>
              <a:t>PRIVATE TRACK  -  the runway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2697480"/>
            <a:ext cx="4663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300" b="0">
                <a:solidFill>
                  <a:srgbClr val="0F172A"/>
                </a:solidFill>
                <a:latin typeface="Segoe UI"/>
              </a:rPr>
              <a:t>Fleets, universities, ports, factories, BOI zones</a:t>
            </a:r>
          </a:p>
          <a:p>
            <a:pPr algn="l">
              <a:spcAft>
                <a:spcPts val="1100"/>
              </a:spcAft>
            </a:pPr>
            <a:r>
              <a:rPr sz="1300" b="0">
                <a:solidFill>
                  <a:srgbClr val="0F172A"/>
                </a:solidFill>
                <a:latin typeface="Segoe UI"/>
              </a:rPr>
              <a:t>Private roads: no procurement, no legal complexity</a:t>
            </a:r>
          </a:p>
          <a:p>
            <a:pPr algn="l">
              <a:spcAft>
                <a:spcPts val="1100"/>
              </a:spcAft>
            </a:pPr>
            <a:r>
              <a:rPr sz="1300" b="0">
                <a:solidFill>
                  <a:srgbClr val="0F172A"/>
                </a:solidFill>
                <a:latin typeface="Segoe UI"/>
              </a:rPr>
              <a:t>A bus company can sign in a week</a:t>
            </a:r>
          </a:p>
          <a:p>
            <a:pPr algn="l">
              <a:spcAft>
                <a:spcPts val="1100"/>
              </a:spcAft>
            </a:pPr>
            <a:r>
              <a:rPr sz="1300" b="1">
                <a:solidFill>
                  <a:srgbClr val="0F172A"/>
                </a:solidFill>
                <a:latin typeface="Segoe UI"/>
              </a:rPr>
              <a:t>Pays us in month 2, and produces the accuracy record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5349240"/>
            <a:ext cx="10652760" cy="10515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5486400"/>
            <a:ext cx="10149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Highest-leverage channel:</a:t>
            </a:r>
            <a:r>
              <a:rPr sz="1400" b="0">
                <a:solidFill>
                  <a:srgbClr val="0F172A"/>
                </a:solidFill>
                <a:latin typeface="Segoe UI"/>
              </a:rPr>
              <a:t> get one motor insurer to discount premiums for fleets running our driver scorecard. Their agents then sell us to every fleet in their book, and we pay nothing for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331720"/>
            <a:ext cx="91440" cy="18288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2860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E7490"/>
                </a:solidFill>
                <a:latin typeface="Segoe U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0F172A"/>
                </a:solidFill>
                <a:latin typeface="Segoe UI"/>
              </a:rPr>
              <a:t>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03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B6B84"/>
                </a:solidFill>
                <a:latin typeface="Segoe UI"/>
              </a:rPr>
              <a:t>Camera, AI, data, maps - how a moving vehicle becomes a challan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THE WHOLE SYSTEM IN SIX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From a camera on a pole to a challan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74519"/>
            <a:ext cx="3401568" cy="15087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002535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E7490"/>
                </a:solidFill>
                <a:latin typeface="Segoe UI"/>
              </a:rPr>
              <a:t>1  CAMERA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2377439"/>
            <a:ext cx="30358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Existing council CCTV, our own camera, or a drone. We pull the video over the ONVIF / RTSP standard.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61688" y="1874519"/>
            <a:ext cx="3401568" cy="15087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62856" y="2002535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E7490"/>
                </a:solidFill>
                <a:latin typeface="Segoe UI"/>
              </a:rPr>
              <a:t>2  EDGE BOX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62856" y="2377439"/>
            <a:ext cx="30358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One small computer in the cabinet that is already there. It handles about four cameras.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46136" y="1874519"/>
            <a:ext cx="3401568" cy="15087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47304" y="2002535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E7490"/>
                </a:solidFill>
                <a:latin typeface="Segoe UI"/>
              </a:rPr>
              <a:t>3  DETECT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47304" y="2377439"/>
            <a:ext cx="30358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The AI finds vehicles, riders, helmets, phones and number plates, and gives every vehicle an ID it keeps as it moves.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3566160"/>
            <a:ext cx="3401568" cy="15087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" y="369417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E7490"/>
                </a:solidFill>
                <a:latin typeface="Segoe UI"/>
              </a:rPr>
              <a:t>4  MEASURE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4069080"/>
            <a:ext cx="30358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The map calibration turns pixels into metres, so we get real speed and real position on the road - not a guess.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61688" y="3566160"/>
            <a:ext cx="3401568" cy="15087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2856" y="369417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E7490"/>
                </a:solidFill>
                <a:latin typeface="Segoe UI"/>
              </a:rPr>
              <a:t>5  JUDGE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62856" y="4069080"/>
            <a:ext cx="30358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Ten rules run at once. Each one needs several frames of agreement before it will accuse anybody.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46136" y="3566160"/>
            <a:ext cx="3401568" cy="15087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47304" y="3694176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E7490"/>
                </a:solidFill>
                <a:latin typeface="Segoe UI"/>
              </a:rPr>
              <a:t>6  EVIDENCE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47304" y="4069080"/>
            <a:ext cx="3035808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A photograph, stamped with the plate, time, place and rule, goes to an officer's queue. Approved, it becomes a challan.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394960"/>
            <a:ext cx="10652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E7490"/>
                </a:solidFill>
                <a:latin typeface="Segoe UI"/>
              </a:rPr>
              <a:t>Only step 6 ever leaves the site. Everything before it happens on the pole.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STEP 1  -  WHERE THE PICTURES COME FROM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Cameras that are already on the poles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10512"/>
            <a:ext cx="10652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0F172A"/>
                </a:solidFill>
                <a:latin typeface="Segoe UI"/>
              </a:rPr>
              <a:t>Almost every camera and recorder installed in this country speaks </a:t>
            </a:r>
            <a:r>
              <a:rPr sz="1450" b="1">
                <a:solidFill>
                  <a:srgbClr val="0F172A"/>
                </a:solidFill>
                <a:latin typeface="Segoe UI"/>
              </a:rPr>
              <a:t>ONVIF over RTSP</a:t>
            </a:r>
            <a:r>
              <a:rPr sz="1450" b="0">
                <a:solidFill>
                  <a:srgbClr val="0F172A"/>
                </a:solidFill>
                <a:latin typeface="Segoe UI"/>
              </a:rPr>
              <a:t>. We pull a stream. No firmware change, no rewiring, nothing new on the pole.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514600"/>
            <a:ext cx="3401568" cy="9144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62432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0E7490"/>
                </a:solidFill>
                <a:latin typeface="Segoe UI"/>
              </a:rPr>
              <a:t>Council CCTV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8" y="2971800"/>
            <a:ext cx="3035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B84"/>
                </a:solidFill>
                <a:latin typeface="Segoe UI"/>
              </a:rPr>
              <a:t>Already installed and paid for. We just read 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4361688" y="2514600"/>
            <a:ext cx="3401568" cy="9144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62856" y="262432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0E7490"/>
                </a:solidFill>
                <a:latin typeface="Segoe UI"/>
              </a:rPr>
              <a:t>Our own camera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2856" y="2971800"/>
            <a:ext cx="3035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B84"/>
                </a:solidFill>
                <a:latin typeface="Segoe UI"/>
              </a:rPr>
              <a:t>Where none exists, or the angle is wrong.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46136" y="2514600"/>
            <a:ext cx="3401568" cy="9144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47304" y="262432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0E7490"/>
                </a:solidFill>
                <a:latin typeface="Segoe UI"/>
              </a:rPr>
              <a:t>Drone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7304" y="2971800"/>
            <a:ext cx="303580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B84"/>
                </a:solidFill>
                <a:latin typeface="Segoe UI"/>
              </a:rPr>
              <a:t>Already working today - we fly one.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57600"/>
            <a:ext cx="10652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0F172A"/>
                </a:solidFill>
                <a:latin typeface="Segoe UI"/>
              </a:rPr>
              <a:t>The honest part: most municipal CCTV was installed to watch for theft, not to read plates.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206240"/>
            <a:ext cx="10652760" cy="96012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34340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0F172A"/>
                </a:solidFill>
                <a:latin typeface="Segoe UI"/>
              </a:rPr>
              <a:t>It is mounted high and angled wide. We expect only about </a:t>
            </a:r>
            <a:r>
              <a:rPr sz="1350" b="1">
                <a:solidFill>
                  <a:srgbClr val="0F172A"/>
                </a:solidFill>
                <a:latin typeface="Segoe UI"/>
              </a:rPr>
              <a:t>40% of any existing estate</a:t>
            </a:r>
            <a:r>
              <a:rPr sz="1350" b="0">
                <a:solidFill>
                  <a:srgbClr val="0F172A"/>
                </a:solidFill>
                <a:latin typeface="Segoe UI"/>
              </a:rPr>
              <a:t> to be usable for enforcement without repositioning - and we survey it and say so </a:t>
            </a:r>
            <a:r>
              <a:rPr sz="1350" b="1">
                <a:solidFill>
                  <a:srgbClr val="0F172A"/>
                </a:solidFill>
                <a:latin typeface="Segoe UI"/>
              </a:rPr>
              <a:t>before</a:t>
            </a:r>
            <a:r>
              <a:rPr sz="1350" b="0">
                <a:solidFill>
                  <a:srgbClr val="0F172A"/>
                </a:solidFill>
                <a:latin typeface="Segoe UI"/>
              </a:rPr>
              <a:t> anyone signs, not after.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440680"/>
            <a:ext cx="10652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E7490"/>
                </a:solidFill>
                <a:latin typeface="Segoe UI"/>
              </a:rPr>
              <a:t>Where a camera will not do the job, we supply one. That is revenue, not a problem.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STEP 2  -  THE ARITHMETIC THAT DECIDES EVERYTHING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Why the thinking happens on the pole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920240"/>
            <a:ext cx="10652760" cy="60350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002536"/>
            <a:ext cx="3082899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7611" y="2002536"/>
            <a:ext cx="489386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Network load for 1,000 cameras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0936" y="2002536"/>
            <a:ext cx="2017623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Verdict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523744"/>
            <a:ext cx="1065276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2606040"/>
            <a:ext cx="3082899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Send every video stream to a central 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7611" y="2606040"/>
            <a:ext cx="489386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1,000 x 2 Mbps = 2 Gbps sustained, ~21 TB per 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0936" y="2606040"/>
            <a:ext cx="2017623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Impossible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127248"/>
            <a:ext cx="10652760" cy="60350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3209544"/>
            <a:ext cx="3082899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Detect at the edge, send EVENTS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7611" y="3209544"/>
            <a:ext cx="4893868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A challan is ~250 KB. ~50 GB/day, bursty - about 5 Mbps average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0936" y="3209544"/>
            <a:ext cx="2017623" cy="6035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Runs on what exists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840480"/>
            <a:ext cx="10652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E7490"/>
                </a:solidFill>
                <a:latin typeface="Segoe UI"/>
              </a:rPr>
              <a:t>A 400x reduction in bandwidth.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480560"/>
            <a:ext cx="10652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0F172A"/>
                </a:solidFill>
                <a:latin typeface="Segoe UI"/>
              </a:rPr>
              <a:t>That is the difference between deployable on Sri Lankan municipal networks, and not deployable at all.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5029200"/>
            <a:ext cx="3401568" cy="10515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14807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0E7490"/>
                </a:solidFill>
                <a:latin typeface="Segoe UI"/>
              </a:rPr>
              <a:t>Runs on a small computer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5321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B84"/>
                </a:solidFill>
                <a:latin typeface="Segoe UI"/>
              </a:rPr>
              <a:t>CPU is enough today. No GPU cluster, no data centre.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361688" y="5029200"/>
            <a:ext cx="3401568" cy="10515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44568" y="514807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0E7490"/>
                </a:solidFill>
                <a:latin typeface="Segoe UI"/>
              </a:rPr>
              <a:t>Survives the link dropping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4568" y="55321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B84"/>
                </a:solidFill>
                <a:latin typeface="Segoe UI"/>
              </a:rPr>
              <a:t>Events queue locally on a UPS and sync when it returns.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46136" y="5029200"/>
            <a:ext cx="3401568" cy="10515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29016" y="5148072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1">
                <a:solidFill>
                  <a:srgbClr val="0E7490"/>
                </a:solidFill>
                <a:latin typeface="Segoe UI"/>
              </a:rPr>
              <a:t>We keep the frame, not the stream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29016" y="55321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B84"/>
                </a:solidFill>
                <a:latin typeface="Segoe UI"/>
              </a:rPr>
              <a:t>90-day retention, then automatic deletion.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STEPS 3 TO 5  -  THE DETECTION 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What the AI does with one frame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74519"/>
            <a:ext cx="10652760" cy="62179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93391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E7490"/>
                </a:solidFill>
                <a:latin typeface="Segoe UI"/>
              </a:rPr>
              <a:t>Detect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2011679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Segoe UI"/>
              </a:rPr>
              <a:t>One pass of the model finds vehicles, people, helmets, phones and number plates.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596896"/>
            <a:ext cx="10652760" cy="62179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71576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E7490"/>
                </a:solidFill>
                <a:latin typeface="Segoe UI"/>
              </a:rPr>
              <a:t>Track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734056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Segoe UI"/>
              </a:rPr>
              <a:t>The same motorcycle keeps ID #47 across frames, so a rule can watch it over time instead of judging a snapshot.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319272"/>
            <a:ext cx="10652760" cy="62179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438144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E7490"/>
                </a:solidFill>
                <a:latin typeface="Segoe UI"/>
              </a:rPr>
              <a:t>Associate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456432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Segoe UI"/>
              </a:rPr>
              <a:t>Is this person actually ON that motorcycle? Overlap, centre and foot position are all checked - so a pedestrian is never fined.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041648"/>
            <a:ext cx="10652760" cy="62179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1605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E7490"/>
                </a:solidFill>
                <a:latin typeface="Segoe UI"/>
              </a:rPr>
              <a:t>Persist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178808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Segoe UI"/>
              </a:rPr>
              <a:t>Three to four frames must agree before any accusation. One bad frame is never enough.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764024"/>
            <a:ext cx="10652760" cy="62179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882896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E7490"/>
                </a:solidFill>
                <a:latin typeface="Segoe UI"/>
              </a:rPr>
              <a:t>Measure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6080" y="4901184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Segoe UI"/>
              </a:rPr>
              <a:t>Is it genuinely moving? We use net displacement with camera shake removed, so a parked bike can never be fined.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5486400"/>
            <a:ext cx="10652760" cy="62179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5840" y="560527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E7490"/>
                </a:solidFill>
                <a:latin typeface="Segoe UI"/>
              </a:rPr>
              <a:t>Refuse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5623560"/>
            <a:ext cx="8321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Segoe UI"/>
              </a:rPr>
              <a:t>If the camera is not calibrated, the rules that need geometry do not fire at all. We deleted our own guess rather than ship it.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6309360"/>
            <a:ext cx="10652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E7490"/>
                </a:solidFill>
                <a:latin typeface="Segoe UI"/>
              </a:rPr>
              <a:t>Most of our engineering went into the checks that stop it firing - not the ones that make it fire. In an evidence product, that is the whole job.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STEP 4  -  THE QUESTION YOU PRESSED HARDEST 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Where the zone data comes from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74519"/>
            <a:ext cx="10652760" cy="9144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11680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0F172A"/>
                </a:solidFill>
                <a:latin typeface="Segoe UI"/>
              </a:rPr>
              <a:t>Today a human opens each clip, clicks four corners of the road and types the real distance. That is fine for five cameras. It is impossible for five thousand.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063240"/>
            <a:ext cx="10652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E7490"/>
                </a:solidFill>
                <a:latin typeface="Segoe UI"/>
              </a:rPr>
              <a:t>Our demo hides something: there are TWO kinds of data, and they scale completely differently.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749039"/>
            <a:ext cx="10652760" cy="713232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3831335"/>
            <a:ext cx="3615537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Kind of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40249" y="3831335"/>
            <a:ext cx="276331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Example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3022" y="3831335"/>
            <a:ext cx="2124151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Per camera?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66629" y="3831335"/>
            <a:ext cx="127193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Cost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4462271"/>
            <a:ext cx="10652760" cy="713232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4544567"/>
            <a:ext cx="3615537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Camera geometry - where the ground plane sits in THIS image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0249" y="4544567"/>
            <a:ext cx="276331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4-point homography, metres per pixel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3022" y="4544567"/>
            <a:ext cx="2124151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Yes. Unavoidable.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66629" y="4544567"/>
            <a:ext cx="127193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Minutes, once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5175503"/>
            <a:ext cx="10652760" cy="713232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5256" y="5257799"/>
            <a:ext cx="3615537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World knowledge - what the law says about this piece of road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40249" y="5257799"/>
            <a:ext cx="2763316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Speed limit, no-parking, one-way, stop 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3022" y="5257799"/>
            <a:ext cx="2124151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No. It belongs to the map.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66629" y="5257799"/>
            <a:ext cx="127193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Once, nationally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577840"/>
            <a:ext cx="10652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E7490"/>
                </a:solidFill>
                <a:latin typeface="Segoe UI"/>
              </a:rPr>
              <a:t>We were treating both as per-camera work. That made the job look a hundred times bigger than it is.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FOUR MINUTES, THEN NEVER AGAIN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Geo-register each camera once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10652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0F172A"/>
                </a:solidFill>
                <a:latin typeface="Segoe UI"/>
              </a:rPr>
              <a:t>The operator drags four points on the camera image and the matching four on a satellite map. That one act then delivers, automatically: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514600"/>
            <a:ext cx="3401568" cy="8229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606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Metres per pixel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935224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B84"/>
                </a:solidFill>
                <a:latin typeface="Segoe UI"/>
              </a:rPr>
              <a:t>-&gt; speed measurement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361688" y="2514600"/>
            <a:ext cx="3401568" cy="8229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44568" y="2606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Stop-line position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4568" y="2935224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B84"/>
                </a:solidFill>
                <a:latin typeface="Segoe UI"/>
              </a:rPr>
              <a:t>-&gt; red-light rule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46136" y="2514600"/>
            <a:ext cx="3401568" cy="8229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29016" y="260604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Legal direction of travel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9016" y="2935224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B84"/>
                </a:solidFill>
                <a:latin typeface="Segoe UI"/>
              </a:rPr>
              <a:t>-&gt; wrong-way rule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474720"/>
            <a:ext cx="3401568" cy="8229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" y="3566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No-parking polygons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895344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B84"/>
                </a:solidFill>
                <a:latin typeface="Segoe UI"/>
              </a:rPr>
              <a:t>-&gt; illegal parking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61688" y="3474720"/>
            <a:ext cx="3401568" cy="8229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44568" y="3566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School zones, bus halts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3895344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B84"/>
                </a:solidFill>
                <a:latin typeface="Segoe UI"/>
              </a:rPr>
              <a:t>-&gt; context rules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46136" y="3474720"/>
            <a:ext cx="3401568" cy="8229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29016" y="356616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Crossings, junction shape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29016" y="3895344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B84"/>
                </a:solidFill>
                <a:latin typeface="Segoe UI"/>
              </a:rPr>
              <a:t>-&gt; future rules, free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4617720"/>
            <a:ext cx="2514600" cy="12344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745736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0E7490"/>
                </a:solidFill>
                <a:latin typeface="Segoe UI"/>
              </a:rPr>
              <a:t>4 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330952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5B6B84"/>
                </a:solidFill>
                <a:latin typeface="Segoe UI"/>
              </a:rPr>
              <a:t>per camera, once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474720" y="4617720"/>
            <a:ext cx="2514600" cy="12344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74720" y="4745736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0E7490"/>
                </a:solidFill>
                <a:latin typeface="Segoe UI"/>
              </a:rPr>
              <a:t>67 hrs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74720" y="5330952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5B6B84"/>
                </a:solidFill>
                <a:latin typeface="Segoe UI"/>
              </a:rPr>
              <a:t>for 1,000 cameras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200" y="4617720"/>
            <a:ext cx="2514600" cy="12344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72200" y="4745736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0E7490"/>
                </a:solidFill>
                <a:latin typeface="Segoe UI"/>
              </a:rPr>
              <a:t>2 people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5330952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5B6B84"/>
                </a:solidFill>
                <a:latin typeface="Segoe UI"/>
              </a:rPr>
              <a:t>2 weeks, a province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869680" y="4617720"/>
            <a:ext cx="2514600" cy="12344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69680" y="4745736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0E7490"/>
                </a:solidFill>
                <a:latin typeface="Segoe UI"/>
              </a:rPr>
              <a:t>Auto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5330952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5B6B84"/>
                </a:solidFill>
                <a:latin typeface="Segoe UI"/>
              </a:rPr>
              <a:t>re-flags if moved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6035040"/>
            <a:ext cx="10652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0E7490"/>
                </a:solidFill>
                <a:latin typeface="Segoe UI"/>
              </a:rPr>
              <a:t>If a camera is knocked or moved, the background changes - we detect it, stop enforcing the geometry rules, and ask to be recalibrated.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WE DO NOT CREATE THIS DATA - IT ALREADY EXISTS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Import the world once, nationally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74519"/>
            <a:ext cx="10652760" cy="51206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956815"/>
            <a:ext cx="255026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74973" y="1956815"/>
            <a:ext cx="574608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What it gives 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40519" y="1956815"/>
            <a:ext cx="1698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Who holds it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86583"/>
            <a:ext cx="106527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2468879"/>
            <a:ext cx="255026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RDA road register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74973" y="2468879"/>
            <a:ext cx="574608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Road class and centreline geometry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40519" y="2468879"/>
            <a:ext cx="1698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Government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898647"/>
            <a:ext cx="10652760" cy="51206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980943"/>
            <a:ext cx="255026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Survey Dept / provincial GIS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4973" y="2980943"/>
            <a:ext cx="574608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Built-up-area boundaries = the legal 50 km/h limit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40519" y="2980943"/>
            <a:ext cx="1698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Government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410711"/>
            <a:ext cx="106527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" y="3493007"/>
            <a:ext cx="255026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Gazetted traffic schemes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74973" y="3493007"/>
            <a:ext cx="574608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No-parking, one-way, bus halts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0519" y="3493007"/>
            <a:ext cx="1698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Municipal councils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922775"/>
            <a:ext cx="10652760" cy="51206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" y="4005071"/>
            <a:ext cx="255026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OpenStreetMap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74973" y="4005071"/>
            <a:ext cx="574608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maxspeed, oneway, crossings, schools - urban coverage today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40519" y="4005071"/>
            <a:ext cx="1698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Free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434839"/>
            <a:ext cx="10652760" cy="51206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517135"/>
            <a:ext cx="255026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Motor Traffic Act defaults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74973" y="4517135"/>
            <a:ext cx="574608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Where nothing is known: the statutory limit for that road class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0519" y="4517135"/>
            <a:ext cx="1698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The law itself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4946903"/>
            <a:ext cx="10652760" cy="51206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5256" y="5029199"/>
            <a:ext cx="2550261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Learned proposals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74973" y="5029199"/>
            <a:ext cx="5746089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'95% of vehicles here do 38-46 km/h - is the limit right?'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40519" y="5029199"/>
            <a:ext cx="169804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Our own data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623560"/>
            <a:ext cx="10652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0E7490"/>
                </a:solidFill>
                <a:latin typeface="Segoe UI"/>
              </a:rPr>
              <a:t>The councils' schemes are paper and PDF today. Digitising Colombo's is a few weeks for one person - once, and then never again.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6126480"/>
            <a:ext cx="10652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B45309"/>
                </a:solidFill>
                <a:latin typeface="Segoe UI"/>
              </a:rPr>
              <a:t>Learned rules are PROPOSED for a human to approve. They are never auto-enforced.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WHY THE DATA PROBLEM DOES NOT BLOCK DAY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Six of ten rules need no map at 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83080"/>
            <a:ext cx="10652760" cy="36576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865376"/>
            <a:ext cx="27633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Rule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88028" y="1865376"/>
            <a:ext cx="468081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What it needs from the world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88298" y="1865376"/>
            <a:ext cx="255026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Live on day one?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148840"/>
            <a:ext cx="10652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2231136"/>
            <a:ext cx="27633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No Helmet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8028" y="2231136"/>
            <a:ext cx="468081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nothing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88298" y="2231136"/>
            <a:ext cx="255026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YES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514600"/>
            <a:ext cx="106527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596896"/>
            <a:ext cx="27633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Triple Riding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8028" y="2596896"/>
            <a:ext cx="468081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nothing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88298" y="2596896"/>
            <a:ext cx="255026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YES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2880360"/>
            <a:ext cx="10652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" y="2962656"/>
            <a:ext cx="27633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Wheelie / stunt riding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8028" y="2962656"/>
            <a:ext cx="468081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nothing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88298" y="2962656"/>
            <a:ext cx="255026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YES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246120"/>
            <a:ext cx="106527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" y="3328416"/>
            <a:ext cx="27633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Mobile Phone Use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8028" y="3328416"/>
            <a:ext cx="468081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nothing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88298" y="3328416"/>
            <a:ext cx="255026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YES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611880"/>
            <a:ext cx="10652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694176"/>
            <a:ext cx="27633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No Rest Break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8028" y="3694176"/>
            <a:ext cx="468081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nothing - time only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88298" y="3694176"/>
            <a:ext cx="255026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YES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3977640"/>
            <a:ext cx="106527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5256" y="4059936"/>
            <a:ext cx="27633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No Seatbelt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88028" y="4059936"/>
            <a:ext cx="468081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nothing (needs a working detector)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88298" y="4059936"/>
            <a:ext cx="255026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model pending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" y="4343400"/>
            <a:ext cx="10652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" y="4425696"/>
            <a:ext cx="27633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Wrong Way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88028" y="4425696"/>
            <a:ext cx="468081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legal direction of travel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88298" y="4425696"/>
            <a:ext cx="255026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after geo-registration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4709160"/>
            <a:ext cx="106527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4791456"/>
            <a:ext cx="27633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Over Speeding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88028" y="4791456"/>
            <a:ext cx="468081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ground plane + posted limit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88298" y="4791456"/>
            <a:ext cx="255026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after geo-registration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5074920"/>
            <a:ext cx="10652760" cy="3657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5256" y="5157216"/>
            <a:ext cx="27633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Illegal Parking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88028" y="5157216"/>
            <a:ext cx="468081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no-parking polygon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88298" y="5157216"/>
            <a:ext cx="255026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after zone import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7240" y="5440680"/>
            <a:ext cx="106527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5256" y="5522976"/>
            <a:ext cx="2763316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Red Light Jump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88028" y="5522976"/>
            <a:ext cx="468081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stop line + signal state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788298" y="5522976"/>
            <a:ext cx="255026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after geo-registration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77240" y="5943600"/>
            <a:ext cx="10652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E7490"/>
                </a:solidFill>
                <a:latin typeface="Segoe UI"/>
              </a:rPr>
              <a:t>We deploy immediately and enrich over weeks. The customer sees value in week one, not month six.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331720"/>
            <a:ext cx="91440" cy="18288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2860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E7490"/>
                </a:solidFill>
                <a:latin typeface="Segoe U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0F172A"/>
                </a:solidFill>
                <a:latin typeface="Segoe UI"/>
              </a:rPr>
              <a:t>Money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03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B6B84"/>
                </a:solidFill>
                <a:latin typeface="Segoe UI"/>
              </a:rPr>
              <a:t>What it costs, what people pay, and why those numbers are right for Sri Lanka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THE PRICE 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How you subscribe or licence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28800"/>
            <a:ext cx="10652760" cy="42976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911096"/>
            <a:ext cx="180456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Tier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9280" y="1911096"/>
            <a:ext cx="563956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Who it is 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88298" y="1911096"/>
            <a:ext cx="2550261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Price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58568"/>
            <a:ext cx="1065276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2340864"/>
            <a:ext cx="180456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Audit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9280" y="2340864"/>
            <a:ext cx="563956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First contact - a council or division. 30-day report, no fines issued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88298" y="2340864"/>
            <a:ext cx="2550261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Free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688336"/>
            <a:ext cx="10652760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770632"/>
            <a:ext cx="180456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Enforce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9280" y="2770632"/>
            <a:ext cx="563956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Per camera. All rules, dashboard, officer review queue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88298" y="2770632"/>
            <a:ext cx="2550261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LKR 3,500 / camera / month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118104"/>
            <a:ext cx="1065276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" y="3200400"/>
            <a:ext cx="180456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Enforce + ANPR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29280" y="3200400"/>
            <a:ext cx="563956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Adds plate recognition, owner lookup, PDF challan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88298" y="3200400"/>
            <a:ext cx="2550261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LKR 5,500 / camera / month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547872"/>
            <a:ext cx="10652760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" y="3630168"/>
            <a:ext cx="180456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Fleet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29280" y="3630168"/>
            <a:ext cx="563956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Bus, logistics, plantation, courier. Driver scorecards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88298" y="3630168"/>
            <a:ext cx="2550261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LKR 25,000 / month (25 vehicles)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977640"/>
            <a:ext cx="1065276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059936"/>
            <a:ext cx="180456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Provincial Licence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9280" y="4059936"/>
            <a:ext cx="563956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Ministry / Police HQ. Unlimited cameras, ON-PREMISE, SLA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88298" y="4059936"/>
            <a:ext cx="2550261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LKR 12,000,000 / province / year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4407408"/>
            <a:ext cx="10652760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5256" y="4489704"/>
            <a:ext cx="180456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Insight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9280" y="4489704"/>
            <a:ext cx="563956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Insurers, RDA, researchers. Anonymised blackspot analytics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88298" y="4489704"/>
            <a:ext cx="2550261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LKR 2,000,000 / year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7240" y="4837176"/>
            <a:ext cx="10652760" cy="42976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5256" y="4919472"/>
            <a:ext cx="180456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Site Activation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9280" y="4919472"/>
            <a:ext cx="563956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One-time: survey, geo-registration, zone import, training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88298" y="4919472"/>
            <a:ext cx="2550261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LKR 45,000 / camera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5266944"/>
            <a:ext cx="10652760" cy="4297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6" y="5349240"/>
            <a:ext cx="1804568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Edge appliance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929280" y="5349240"/>
            <a:ext cx="5639562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One-time: hardware at cost + 15%, 4 cameras, 3-yr warranty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88298" y="5349240"/>
            <a:ext cx="2550261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LKR 138,000 / box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77240" y="5897880"/>
            <a:ext cx="10652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0E7490"/>
                </a:solidFill>
                <a:latin typeface="Segoe UI"/>
              </a:rPr>
              <a:t>A police force will not put criminal evidence in someone else's cloud - and should not. The on-premise licence is our highest-margin product, not a compromise.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HOW THE PRICING MODEL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Five rules we used to set the price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74519"/>
            <a:ext cx="10652760" cy="74980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93391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E7490"/>
                </a:solidFill>
                <a:latin typeface="Segoe UI"/>
              </a:rPr>
              <a:t>Anchor on the alternative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011679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Segoe UI"/>
              </a:rPr>
              <a:t>Not on our cost. Three constables cover one point 24/7 for ~LKR 300,000 a month. We charge LKR 5,750.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724912"/>
            <a:ext cx="10652760" cy="74980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843784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E7490"/>
                </a:solidFill>
                <a:latin typeface="Segoe UI"/>
              </a:rPr>
              <a:t>Operating cost, not capital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862072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Segoe UI"/>
              </a:rPr>
              <a:t>A council can approve a monthly maintenance line. A purchase needs a tender. So we offer LKR 5,000/camera/month with NO upfront fee, setup rolled in over 3 years.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3575304"/>
            <a:ext cx="10652760" cy="74980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694176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E7490"/>
                </a:solidFill>
                <a:latin typeface="Segoe UI"/>
              </a:rPr>
              <a:t>Start at one camera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3712464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Segoe UI"/>
              </a:rPr>
              <a:t>No minimum order. A council can try four cameras without convening a committee.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4425696"/>
            <a:ext cx="10652760" cy="74980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454456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E7490"/>
                </a:solidFill>
                <a:latin typeface="Segoe UI"/>
              </a:rPr>
              <a:t>Publish volume tiers now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4562856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Segoe UI"/>
              </a:rPr>
              <a:t>So we are never negotiated down from zero: 100+ cameras LKR 3,000; 500+ LKR 2,600; 2,000+ LKR 2,200.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5276088"/>
            <a:ext cx="10652760" cy="74980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539496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E7490"/>
                </a:solidFill>
                <a:latin typeface="Segoe UI"/>
              </a:rPr>
              <a:t>Charge fleets per vehicle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5413248"/>
            <a:ext cx="7132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Segoe UI"/>
              </a:rPr>
              <a:t>A fleet owner thinks in vehicles, not cameras. LKR 1,000 per vehicle per month is a number they can check against their insurance bill.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263640"/>
            <a:ext cx="10652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E7490"/>
                </a:solidFill>
                <a:latin typeface="Segoe UI"/>
              </a:rPr>
              <a:t>Free at the top of the ladder, cheap to start, cheaper at scale, and never a capital purchase. That is the whole model.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THE AFFORDABILITY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Is this the right price for Sri Lanka?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74519"/>
            <a:ext cx="10652760" cy="56692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956815"/>
            <a:ext cx="2017623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Buyer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42335" y="1956815"/>
            <a:ext cx="2124151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What they pay 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5942" y="1956815"/>
            <a:ext cx="3189427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Compared with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94826" y="1956815"/>
            <a:ext cx="244373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Verdict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441447"/>
            <a:ext cx="106527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2523743"/>
            <a:ext cx="2017623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Council, 40 cameras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42335" y="2523743"/>
            <a:ext cx="2124151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LKR 1.68M / year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5942" y="2523743"/>
            <a:ext cx="3189427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Less than 2 constables cost for a year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94826" y="2523743"/>
            <a:ext cx="244373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Fits an existing budget 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008375"/>
            <a:ext cx="10652760" cy="56692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3090671"/>
            <a:ext cx="2017623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Police HQ, one province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42335" y="3090671"/>
            <a:ext cx="2124151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LKR 12M / year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5942" y="3090671"/>
            <a:ext cx="3189427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A rounding error against the Police budget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94826" y="3090671"/>
            <a:ext cx="244373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Approvable without a new vote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575303"/>
            <a:ext cx="1065276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" y="3657599"/>
            <a:ext cx="2017623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Fleet, 25 vehicles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42335" y="3657599"/>
            <a:ext cx="2124151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LKR 1,000 / vehicle / month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5942" y="3657599"/>
            <a:ext cx="3189427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About 10% of a commercial motor premium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94826" y="3657599"/>
            <a:ext cx="244373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Pays for itself on a 10% discount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142231"/>
            <a:ext cx="10652760" cy="56692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224527"/>
            <a:ext cx="2017623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Versus imported software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42335" y="4224527"/>
            <a:ext cx="2124151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~USD 140 / camera / year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5942" y="4224527"/>
            <a:ext cx="3189427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Imported ANPR licences run USD 200-1,000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94826" y="4224527"/>
            <a:ext cx="2443734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We are 3-7x cheaper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343400"/>
            <a:ext cx="10652760" cy="13716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4498848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B45309"/>
                </a:solidFill>
                <a:latin typeface="Segoe UI"/>
              </a:rPr>
              <a:t>The real pricing risk is not the price. It is getting paid.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4956048"/>
            <a:ext cx="101498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172A"/>
                </a:solidFill>
                <a:latin typeface="Segoe UI"/>
              </a:rPr>
              <a:t>Government in Sri Lanka pays in 90 to 180 days, and that is what kills small vendors. So: 25% of activation invoiced up front, the provincial licence billed quarterly in advance, and private-sector revenue held as working capital.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897880"/>
            <a:ext cx="10652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E7490"/>
                </a:solidFill>
                <a:latin typeface="Segoe UI"/>
              </a:rPr>
              <a:t>We would rather price it so a council can say yes this quarter than price it so it looks impressive on a slide.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THE OBVIOUS ANSWER, AND WHY IT IS WRONG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What we will NOT do: take a share of the fines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965960"/>
            <a:ext cx="10652760" cy="10972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93976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B45309"/>
                </a:solidFill>
                <a:latin typeface="Segoe UI"/>
              </a:rPr>
              <a:t>It is probably not legal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2514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172A"/>
                </a:solidFill>
                <a:latin typeface="Segoe UI"/>
              </a:rPr>
              <a:t>Fines under the Motor Traffic Act are public revenue. Assigning a private slice of them is a constitutional and audit problem.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3200400"/>
            <a:ext cx="10652760" cy="10972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3328416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B45309"/>
                </a:solidFill>
                <a:latin typeface="Segoe UI"/>
              </a:rPr>
              <a:t>It creates exactly the wrong incentive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749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172A"/>
                </a:solidFill>
                <a:latin typeface="Segoe UI"/>
              </a:rPr>
              <a:t>A company paid per fine wants more fines. Our goal is FEWER violations - under revenue share, success would bankrupt us.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434840"/>
            <a:ext cx="10652760" cy="10972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4562856"/>
            <a:ext cx="10149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B45309"/>
                </a:solidFill>
                <a:latin typeface="Segoe UI"/>
              </a:rPr>
              <a:t>It is politically fatal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4983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0F172A"/>
                </a:solidFill>
                <a:latin typeface="Segoe UI"/>
              </a:rPr>
              <a:t>'Startup profits from fining Sri Lankan motorists' is a headline that ends the company in a week.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852160"/>
            <a:ext cx="10652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E7490"/>
                </a:solidFill>
                <a:latin typeface="Segoe UI"/>
              </a:rPr>
              <a:t>Subscription pays us for coverage and deterrence - which is the outcome the customer actually wants.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PRICED AGAINST A CONSTABLE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Where LKR 3,500 comes from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920240"/>
            <a:ext cx="10652760" cy="4572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002536"/>
            <a:ext cx="27633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3888028" y="2002536"/>
            <a:ext cx="340248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One traffic constable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09967" y="2002536"/>
            <a:ext cx="3828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One camera on our platform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77440"/>
            <a:ext cx="106527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05256" y="2459736"/>
            <a:ext cx="27633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Cost per month, all-in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8028" y="2459736"/>
            <a:ext cx="340248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~LKR 100,000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09967" y="2459736"/>
            <a:ext cx="3828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LKR 3,500 + LKR 1,250 amortised setup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2834640"/>
            <a:ext cx="1065276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5256" y="2916936"/>
            <a:ext cx="27633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Hours covered per day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8028" y="2916936"/>
            <a:ext cx="340248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8 - one shift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09967" y="2916936"/>
            <a:ext cx="3828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24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291840"/>
            <a:ext cx="106527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" y="3374136"/>
            <a:ext cx="27633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To cover one point 24/7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8028" y="3374136"/>
            <a:ext cx="340248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3 officers = ~LKR 300,000 / month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09967" y="3374136"/>
            <a:ext cx="3828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LKR 5,750 / month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3749040"/>
            <a:ext cx="10652760" cy="45720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5256" y="3831336"/>
            <a:ext cx="27633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Rules watched at once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88028" y="3831336"/>
            <a:ext cx="340248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2-3 realistically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09967" y="3831336"/>
            <a:ext cx="3828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4206240"/>
            <a:ext cx="106527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4288536"/>
            <a:ext cx="27633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Photographic evidence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88028" y="4288536"/>
            <a:ext cx="340248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No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09967" y="4288536"/>
            <a:ext cx="382859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Every 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800600"/>
            <a:ext cx="10652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0E7490"/>
                </a:solidFill>
                <a:latin typeface="Segoe UI"/>
              </a:rPr>
              <a:t>Roughly 50x cheaper per point-hour of coverage.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577840"/>
            <a:ext cx="10652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0F172A"/>
                </a:solidFill>
                <a:latin typeface="Segoe UI"/>
              </a:rPr>
              <a:t>And we are not replacing officers. We are telling them where to stand. That framing matters when the buyer has a union and a manpower shortage.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" y="6172200"/>
            <a:ext cx="10652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B84"/>
                </a:solidFill>
                <a:latin typeface="Segoe UI"/>
              </a:rPr>
              <a:t>Gross margin at LKR 3,500: about 74%.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WESTERN PROVINCE  -  MODELLED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One province, three years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28800"/>
            <a:ext cx="10652760" cy="420624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911096"/>
            <a:ext cx="29763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4101083" y="1911096"/>
            <a:ext cx="228394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Year 1  -  prove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4482" y="1911096"/>
            <a:ext cx="228394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Year 2  -  own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07881" y="1911096"/>
            <a:ext cx="223067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Segoe UI"/>
              </a:rPr>
              <a:t>Year 3  -  expand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249424"/>
            <a:ext cx="106527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2331720"/>
            <a:ext cx="29763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Cameras live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01083" y="2331720"/>
            <a:ext cx="228394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80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4482" y="2331720"/>
            <a:ext cx="228394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600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07881" y="2331720"/>
            <a:ext cx="223067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2,200 (4 provinces)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670048"/>
            <a:ext cx="1065276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752344"/>
            <a:ext cx="29763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Subscriptions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01083" y="2752344"/>
            <a:ext cx="228394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2.9M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4482" y="2752344"/>
            <a:ext cx="228394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32.4M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07881" y="2752344"/>
            <a:ext cx="223067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118.8M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090672"/>
            <a:ext cx="106527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" y="3172968"/>
            <a:ext cx="29763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Site activation + hardware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01083" y="3172968"/>
            <a:ext cx="228394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6.4M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4482" y="3172968"/>
            <a:ext cx="228394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23.4M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07881" y="3172968"/>
            <a:ext cx="223067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72.0M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511296"/>
            <a:ext cx="1065276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593592"/>
            <a:ext cx="29763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Provincial licences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01083" y="3593592"/>
            <a:ext cx="228394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-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04482" y="3593592"/>
            <a:ext cx="228394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12.0M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07881" y="3593592"/>
            <a:ext cx="223067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48.0M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3931920"/>
            <a:ext cx="106527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" y="4014216"/>
            <a:ext cx="29763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Fleet + insight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01083" y="4014216"/>
            <a:ext cx="228394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1.6M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04482" y="4014216"/>
            <a:ext cx="228394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14.0M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07881" y="4014216"/>
            <a:ext cx="223067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63.0M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" y="4352544"/>
            <a:ext cx="1065276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5256" y="4434840"/>
            <a:ext cx="29763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TOTAL REVENUE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01083" y="4434840"/>
            <a:ext cx="228394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10.8M  (~$36k)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04482" y="4434840"/>
            <a:ext cx="228394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81.8M  (~$273k)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07881" y="4434840"/>
            <a:ext cx="223067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301.8M  (~$1.0M)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4773168"/>
            <a:ext cx="1065276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5256" y="4855464"/>
            <a:ext cx="29763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Total cost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101083" y="4855464"/>
            <a:ext cx="228394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21.6M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04482" y="4855464"/>
            <a:ext cx="228394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64.0M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07881" y="4855464"/>
            <a:ext cx="223067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-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7240" y="5193792"/>
            <a:ext cx="10652760" cy="420624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5256" y="5276088"/>
            <a:ext cx="297637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NET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01083" y="5276088"/>
            <a:ext cx="228394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-10.8M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04482" y="5276088"/>
            <a:ext cx="228394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+17.8M  BREAKEVEN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07881" y="5276088"/>
            <a:ext cx="223067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0F172A"/>
                </a:solidFill>
                <a:latin typeface="Segoe UI"/>
              </a:rPr>
              <a:t>-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77240" y="5715000"/>
            <a:ext cx="10652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B84"/>
                </a:solidFill>
                <a:latin typeface="Segoe UI"/>
              </a:rPr>
              <a:t>All figures LKR. Assumed LKR 300 = USD 1. These are our own modelled assumptions with the working shown - not published facts.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" y="6144768"/>
            <a:ext cx="10652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E7490"/>
                </a:solidFill>
                <a:latin typeface="Segoe UI"/>
              </a:rPr>
              <a:t>Year 1's deficit is the ask: LKR 15M (~USD 50,000) for 18 months of runway.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WE WILL SAY IT BEFORE YOU 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The honest ceiling - and why that is fine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74519"/>
            <a:ext cx="10652760" cy="12344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205740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0">
                <a:solidFill>
                  <a:srgbClr val="0F172A"/>
                </a:solidFill>
                <a:latin typeface="Segoe UI"/>
              </a:rPr>
              <a:t>Fully saturated, Sri Lanka is about 5,000 enforcement cameras, 9 provincial licences and a few hundred fleets. That is roughly </a:t>
            </a:r>
            <a:r>
              <a:rPr sz="1550" b="1">
                <a:solidFill>
                  <a:srgbClr val="0F172A"/>
                </a:solidFill>
                <a:latin typeface="Segoe UI"/>
              </a:rPr>
              <a:t>LKR 480M - about USD 1.6M of annual recurring revenue.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337560"/>
            <a:ext cx="10652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B45309"/>
                </a:solidFill>
                <a:latin typeface="Segoe UI"/>
              </a:rPr>
              <a:t>Sri Lanka alone is not a big enough market to build a big company 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4069080"/>
            <a:ext cx="10652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E7490"/>
                </a:solidFill>
                <a:latin typeface="Segoe UI"/>
              </a:rPr>
              <a:t>It is exactly the right market to prove one 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846320"/>
            <a:ext cx="10652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400" b="0">
                <a:solidFill>
                  <a:srgbClr val="0F172A"/>
                </a:solidFill>
                <a:latin typeface="Segoe UI"/>
              </a:rPr>
              <a:t>The product transfers unchanged to Bangladesh, Nepal, Pakistan, Vietnam, Kenya, Nigeria, Tanzania.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0F172A"/>
                </a:solidFill>
                <a:latin typeface="Segoe UI"/>
              </a:rPr>
              <a:t>Same traffic mix - motorcycles, three-wheelers, mixed lanes - which is precisely what Western products are NOT built for.</a:t>
            </a:r>
          </a:p>
          <a:p>
            <a:pPr algn="l">
              <a:spcAft>
                <a:spcPts val="900"/>
              </a:spcAft>
            </a:pPr>
            <a:r>
              <a:rPr sz="1400" b="0">
                <a:solidFill>
                  <a:srgbClr val="0F172A"/>
                </a:solidFill>
                <a:latin typeface="Segoe UI"/>
              </a:rPr>
              <a:t>Worse death rates, and donor money already attached to fixing them.</a:t>
            </a:r>
          </a:p>
          <a:p>
            <a:pPr algn="l">
              <a:spcAft>
                <a:spcPts val="900"/>
              </a:spcAft>
            </a:pPr>
            <a:r>
              <a:rPr sz="1400" b="1">
                <a:solidFill>
                  <a:srgbClr val="0F172A"/>
                </a:solidFill>
                <a:latin typeface="Segoe UI"/>
              </a:rPr>
              <a:t>Sri Lanka is the reference customer, not the whole business.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2331720"/>
            <a:ext cx="91440" cy="182880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" y="22860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0E7490"/>
                </a:solidFill>
                <a:latin typeface="Segoe U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0F172A"/>
                </a:solidFill>
                <a:latin typeface="Segoe UI"/>
              </a:rPr>
              <a:t>Implementation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03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5B6B84"/>
                </a:solidFill>
                <a:latin typeface="Segoe UI"/>
              </a:rPr>
              <a:t>How we launch it, what will go wrong, and what we need from you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IMPLEMENTATION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How it actually reaches a road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55648"/>
            <a:ext cx="10652760" cy="521207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837944"/>
            <a:ext cx="127193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Phase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642" y="1837944"/>
            <a:ext cx="739292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Months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55390" y="1837944"/>
            <a:ext cx="4680813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What we 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55660" y="1837944"/>
            <a:ext cx="3082899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Segoe UI"/>
              </a:rPr>
              <a:t>Done when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276855"/>
            <a:ext cx="10652760" cy="521207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5256" y="2359151"/>
            <a:ext cx="127193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0  Harden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96642" y="2359151"/>
            <a:ext cx="739292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0-3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55390" y="2359151"/>
            <a:ext cx="4680813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Incorporate. Build a labelled Sri Lankan ground-truth set and publish real accuracy. Officer review queue. PDPA assessment.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55660" y="2359151"/>
            <a:ext cx="3082899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We can state an accuracy number and defend it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2798062"/>
            <a:ext cx="10652760" cy="521207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5256" y="2880358"/>
            <a:ext cx="127193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1  Audit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96642" y="2880358"/>
            <a:ext cx="739292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2-5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55390" y="2880358"/>
            <a:ext cx="4680813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Free 30-day audit, 2 junctions, 1 council. No fines.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55660" y="2880358"/>
            <a:ext cx="3082899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A signed report with a council logo on 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319269"/>
            <a:ext cx="10652760" cy="521207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" y="3401565"/>
            <a:ext cx="127193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2  Champion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96642" y="3401565"/>
            <a:ext cx="739292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4-7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55390" y="3401565"/>
            <a:ext cx="4680813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Take the report to NCRS and Police Traffic HQ.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5660" y="3401565"/>
            <a:ext cx="3082899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A letter of support in hand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77240" y="3840476"/>
            <a:ext cx="10652760" cy="521207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" y="3922772"/>
            <a:ext cx="127193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3  Pilot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96642" y="3922772"/>
            <a:ext cx="739292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6-12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55390" y="3922772"/>
            <a:ext cx="4680813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20-40 cameras, one division, every challan human-approved.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55660" y="3922772"/>
            <a:ext cx="3082899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Disputes upheld near zero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77240" y="4361683"/>
            <a:ext cx="10652760" cy="521207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" y="4443979"/>
            <a:ext cx="127193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4  Commercial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96642" y="4443979"/>
            <a:ext cx="739292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3-12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55390" y="4443979"/>
            <a:ext cx="4680813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In parallel: 8 fleets, 2 campuses or ports.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55660" y="4443979"/>
            <a:ext cx="3082899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Revenue covers half the burn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" y="4882890"/>
            <a:ext cx="10652760" cy="521207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5256" y="4965186"/>
            <a:ext cx="127193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5  Province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396642" y="4965186"/>
            <a:ext cx="739292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12-24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355390" y="4965186"/>
            <a:ext cx="4680813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Western Province at 600 cameras. Integrate DMT and e-payment.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55660" y="4965186"/>
            <a:ext cx="3082899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Breakeven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77240" y="5404097"/>
            <a:ext cx="10652760" cy="521207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5256" y="5486393"/>
            <a:ext cx="1271930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6  Scale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396642" y="5486393"/>
            <a:ext cx="739292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24-36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55390" y="5486393"/>
            <a:ext cx="4680813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3 more provinces. First regional pilot.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55660" y="5486393"/>
            <a:ext cx="3082899" cy="521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USD 1M run rate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6126480"/>
            <a:ext cx="10652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The longest-lead item is the Department of Motor Traffic data-sharing agreement - plate to registered owner. We start it in phase 2, not phase 5.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What will go wrong, and what we do about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55648"/>
            <a:ext cx="10652760" cy="411480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1837944"/>
            <a:ext cx="361553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Challenge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40249" y="1837944"/>
            <a:ext cx="659831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Segoe UI"/>
              </a:rPr>
              <a:t>What we do about it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167128"/>
            <a:ext cx="1065276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05256" y="2249424"/>
            <a:ext cx="361553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Procurement takes two years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40249" y="2249424"/>
            <a:ext cx="659831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Private revenue funds us; sub-contract under a registered integrator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2578608"/>
            <a:ext cx="10652760" cy="4114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5256" y="2660904"/>
            <a:ext cx="361553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Is AI evidence admissible?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40249" y="2660904"/>
            <a:ext cx="659831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Officer approves every fine; audit trail; calibration certificate per camera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77240" y="2990088"/>
            <a:ext cx="1065276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" y="3072384"/>
            <a:ext cx="361553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Privacy backlash / PDPA 2022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40249" y="3072384"/>
            <a:ext cx="659831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No face recognition, ever. Plates only. 90-day retention, then auto-purge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401568"/>
            <a:ext cx="10652760" cy="4114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6" y="3483864"/>
            <a:ext cx="361553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'Big Brother' media story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40249" y="3483864"/>
            <a:ext cx="659831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Lead with lives, not fines. Publish violation-rate falls, not revenue collected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77240" y="3813048"/>
            <a:ext cx="1065276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5256" y="3895344"/>
            <a:ext cx="361553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Existing cameras are the wrong quality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40249" y="3895344"/>
            <a:ext cx="659831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Survey first, state the usable percentage up front, sell our own where needed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4224528"/>
            <a:ext cx="10652760" cy="4114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" y="4306824"/>
            <a:ext cx="361553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Government pays 90-180 days late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40249" y="4306824"/>
            <a:ext cx="659831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Bill activation up front, licences quarterly in advance, private revenue as buffer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77240" y="4636008"/>
            <a:ext cx="1065276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5256" y="4718304"/>
            <a:ext cx="361553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A false positive fines an innocent person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40249" y="4718304"/>
            <a:ext cx="659831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Human approval gate, precision over recall, one-click dispute, publish our error rate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77240" y="5047488"/>
            <a:ext cx="10652760" cy="4114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5256" y="5129784"/>
            <a:ext cx="361553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Power cuts and network drops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40249" y="5129784"/>
            <a:ext cx="659831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Edge box queues locally on a UPS and syncs when the link returns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7240" y="5458968"/>
            <a:ext cx="10652760" cy="4114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5256" y="5541264"/>
            <a:ext cx="361553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'Make this challan disappear'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740249" y="5541264"/>
            <a:ext cx="659831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Append-only audit log; every view and cancellation attributed to a named officer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7240" y="5870448"/>
            <a:ext cx="10652760" cy="4114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5256" y="5952744"/>
            <a:ext cx="3615537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Officers resist - it threatens discretion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40249" y="5952744"/>
            <a:ext cx="659831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0F172A"/>
                </a:solidFill>
                <a:latin typeface="Segoe UI"/>
              </a:rPr>
              <a:t>Position it as deployment intelligence: it tells them where to stand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77240" y="6172200"/>
            <a:ext cx="10652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5B6B84"/>
                </a:solidFill>
                <a:latin typeface="Segoe UI"/>
              </a:rPr>
              <a:t>None of these are new. Every country that automated enforcement hit all of them.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AN HONEST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SWOT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783080"/>
            <a:ext cx="5166360" cy="22402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911096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5803D"/>
                </a:solidFill>
                <a:latin typeface="Segoe UI"/>
              </a:rPr>
              <a:t>STRENGTHS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13432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It exists - 10 rules on live video, 85 tests, our own evidence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Built for Sri Lankan traffic: bikes, three-wheelers, mixed lanes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It refuses to guess - no calibration, no speed reading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CPU-capable and edge-first: cheap to run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Local team, local cost base, same-afternoon support</a:t>
            </a:r>
          </a:p>
        </p:txBody>
      </p:sp>
      <p:sp>
        <p:nvSpPr>
          <p:cNvPr id="8" name="Rectangle 7"/>
          <p:cNvSpPr/>
          <p:nvPr/>
        </p:nvSpPr>
        <p:spPr>
          <a:xfrm>
            <a:off x="6263640" y="1783080"/>
            <a:ext cx="5166360" cy="22402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911096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B45309"/>
                </a:solidFill>
                <a:latin typeface="Segoe UI"/>
              </a:rPr>
              <a:t>WEAKNESSES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313432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No revenue, no reference customer, no registered company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No measured accuracy figure yet - a court will ask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Seatbelt rule disabled: the model we got is unusable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Three part-time students; no procurement or legal experience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We depend on camera quality we do not control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7240" y="4160520"/>
            <a:ext cx="5166360" cy="22402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288536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0E7490"/>
                </a:solidFill>
                <a:latin typeface="Segoe UI"/>
              </a:rPr>
              <a:t>OPPORTUNITIES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4690872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~3,000 deaths a year; enforcement is still manual and spot-based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Existing municipal CCTV is a sunk asset we can activate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PDPA 2022 compliance is a moat foreign vendors handle badly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Donor funding needs no police budget line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Fleet and insurance markets need no government sale at all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4160520"/>
            <a:ext cx="5166360" cy="224028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288536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0F172A"/>
                </a:solidFill>
                <a:latin typeface="Segoe UI"/>
              </a:rPr>
              <a:t>THREATS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690872"/>
            <a:ext cx="47091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Hikvision / Dahua / Huawei bundling ANPR free with hardware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Tenders written around an incumbent, or never issued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Political change resetting our sponsor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One high-profile false positive destroying trust</a:t>
            </a:r>
          </a:p>
          <a:p>
            <a:pPr algn="l">
              <a:spcAft>
                <a:spcPts val="600"/>
              </a:spcAft>
            </a:pPr>
            <a:r>
              <a:rPr sz="1050" b="0">
                <a:solidFill>
                  <a:srgbClr val="0F172A"/>
                </a:solidFill>
                <a:latin typeface="Segoe UI"/>
              </a:rPr>
              <a:t>We are students - graduation is a continuity risk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COMPETITION AND DEFENSIBILITY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The model is not the moat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10652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450" b="0">
                <a:solidFill>
                  <a:srgbClr val="0F172A"/>
                </a:solidFill>
                <a:latin typeface="Segoe UI"/>
              </a:rPr>
              <a:t>Anyone can download YOLO. Our biggest threat is a global vendor giving the software away to win the camera contract - so we do not compete on price. We run on top of their hardware and sell the layer they cannot.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2514600"/>
            <a:ext cx="10652760" cy="6583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63347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0E7490"/>
                </a:solidFill>
                <a:latin typeface="Segoe UI"/>
              </a:rPr>
              <a:t>The calibrated camera estate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2651760"/>
            <a:ext cx="65836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Segoe UI"/>
              </a:rPr>
              <a:t>1,000 geo-registered cameras is months of field work a competitor must repeat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3291840"/>
            <a:ext cx="10652760" cy="6583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41071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0E7490"/>
                </a:solidFill>
                <a:latin typeface="Segoe UI"/>
              </a:rPr>
              <a:t>Workflow lock-in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429000"/>
            <a:ext cx="65836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Segoe UI"/>
              </a:rPr>
              <a:t>Once challans flow through our review queue, switching costs are retraining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4069080"/>
            <a:ext cx="10652760" cy="6583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418795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0E7490"/>
                </a:solidFill>
                <a:latin typeface="Segoe UI"/>
              </a:rPr>
              <a:t>A labelled Sri Lankan 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4206240"/>
            <a:ext cx="65836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Segoe UI"/>
              </a:rPr>
              <a:t>Plates, helmets, three-wheelers, night, monsoon - no foreign vendor has this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4846320"/>
            <a:ext cx="10652760" cy="6583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496519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0E7490"/>
                </a:solidFill>
                <a:latin typeface="Segoe UI"/>
              </a:rPr>
              <a:t>Legal precedent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4983480"/>
            <a:ext cx="65836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Segoe UI"/>
              </a:rPr>
              <a:t>The first vendor whose challan survives a court challenge owns the category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5623560"/>
            <a:ext cx="10652760" cy="658368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5742432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0E7490"/>
                </a:solidFill>
                <a:latin typeface="Segoe UI"/>
              </a:rPr>
              <a:t>Cost structure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5760720"/>
            <a:ext cx="65836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0F172A"/>
                </a:solidFill>
                <a:latin typeface="Segoe UI"/>
              </a:rPr>
              <a:t>A local team on an LKR cost base undercuts anyone importing engineers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840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0E7490"/>
                </a:solidFill>
                <a:latin typeface="Segoe UI"/>
              </a:rPr>
              <a:t>THE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400" b="1">
                <a:solidFill>
                  <a:srgbClr val="0F172A"/>
                </a:solidFill>
                <a:latin typeface="Segoe UI"/>
              </a:rPr>
              <a:t>What we are asking for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874519"/>
            <a:ext cx="2514600" cy="12344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002535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0E7490"/>
                </a:solidFill>
                <a:latin typeface="Segoe UI"/>
              </a:rPr>
              <a:t>LKR 15M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587751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5B6B84"/>
                </a:solidFill>
                <a:latin typeface="Segoe UI"/>
              </a:rPr>
              <a:t>~USD 50,000 seed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0" y="1874519"/>
            <a:ext cx="2514600" cy="12344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2002535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0E7490"/>
                </a:solidFill>
                <a:latin typeface="Segoe UI"/>
              </a:rPr>
              <a:t>18 months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587751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5B6B84"/>
                </a:solidFill>
                <a:latin typeface="Segoe UI"/>
              </a:rPr>
              <a:t>of runway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874519"/>
            <a:ext cx="2514600" cy="12344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2002535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0E7490"/>
                </a:solidFill>
                <a:latin typeface="Segoe UI"/>
              </a:rPr>
              <a:t>80 cameras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2587751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5B6B84"/>
                </a:solidFill>
                <a:latin typeface="Segoe UI"/>
              </a:rPr>
              <a:t>live by month 12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69680" y="1874519"/>
            <a:ext cx="2514600" cy="1234440"/>
          </a:xfrm>
          <a:prstGeom prst="rect">
            <a:avLst/>
          </a:prstGeom>
          <a:solidFill>
            <a:srgbClr val="F1F5F9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0" y="2002535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000" b="1">
                <a:solidFill>
                  <a:srgbClr val="0E7490"/>
                </a:solidFill>
                <a:latin typeface="Segoe UI"/>
              </a:rPr>
              <a:t>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0" y="2587751"/>
            <a:ext cx="2514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150" b="0">
                <a:solidFill>
                  <a:srgbClr val="5B6B84"/>
                </a:solidFill>
                <a:latin typeface="Segoe UI"/>
              </a:rPr>
              <a:t>paying customers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337560"/>
            <a:ext cx="10652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5B6B84"/>
                </a:solidFill>
                <a:latin typeface="Segoe UI"/>
              </a:rPr>
              <a:t>60% salaries  |  15% pilot hardware  |  10% legal and PDPA compliance  |  10% field operations  |  5% buffer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931920"/>
            <a:ext cx="10652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F172A"/>
                </a:solidFill>
                <a:latin typeface="Segoe UI"/>
              </a:rPr>
              <a:t>And four things that are not money: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4480560"/>
            <a:ext cx="10424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1.</a:t>
            </a:r>
            <a:r>
              <a:rPr sz="1450" b="0">
                <a:solidFill>
                  <a:srgbClr val="0F172A"/>
                </a:solidFill>
                <a:latin typeface="Segoe UI"/>
              </a:rPr>
              <a:t>  One letter of support from the National Council for Road Safety or Police Traffic HQ.</a:t>
            </a:r>
          </a:p>
          <a:p>
            <a:pPr algn="l">
              <a:spcAft>
                <a:spcPts val="11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2.</a:t>
            </a:r>
            <a:r>
              <a:rPr sz="1450" b="0">
                <a:solidFill>
                  <a:srgbClr val="0F172A"/>
                </a:solidFill>
                <a:latin typeface="Segoe UI"/>
              </a:rPr>
              <a:t>  One municipal council willing to host a free 30-day audit.</a:t>
            </a:r>
          </a:p>
          <a:p>
            <a:pPr algn="l">
              <a:spcAft>
                <a:spcPts val="11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3.</a:t>
            </a:r>
            <a:r>
              <a:rPr sz="1450" b="0">
                <a:solidFill>
                  <a:srgbClr val="0F172A"/>
                </a:solidFill>
                <a:latin typeface="Segoe UI"/>
              </a:rPr>
              <a:t>  An introduction to a government IT integrator with existing vendor registration.</a:t>
            </a:r>
          </a:p>
          <a:p>
            <a:pPr algn="l">
              <a:spcAft>
                <a:spcPts val="1100"/>
              </a:spcAft>
            </a:pPr>
            <a:r>
              <a:rPr sz="1450" b="1">
                <a:solidFill>
                  <a:srgbClr val="0F172A"/>
                </a:solidFill>
                <a:latin typeface="Segoe UI"/>
              </a:rPr>
              <a:t>4.</a:t>
            </a:r>
            <a:r>
              <a:rPr sz="1450" b="0">
                <a:solidFill>
                  <a:srgbClr val="0F172A"/>
                </a:solidFill>
                <a:latin typeface="Segoe UI"/>
              </a:rPr>
              <a:t>  Access to a labelled Sri Lankan traffic dataset - or permission to build one.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13_06_junction_tracking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19456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200" b="1">
                <a:solidFill>
                  <a:srgbClr val="0F172A"/>
                </a:solidFill>
                <a:latin typeface="Segoe UI"/>
              </a:rPr>
              <a:t>We already built the hard part.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918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0E7490"/>
                </a:solidFill>
                <a:latin typeface="Segoe UI"/>
              </a:rPr>
              <a:t>Now we are asking for the boring part: one council, one letter, one pilot.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0F172A"/>
                </a:solidFill>
                <a:latin typeface="Segoe UI"/>
              </a:rPr>
              <a:t>Thank you. We are happy to take your questions.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5B6B84"/>
                </a:solidFill>
                <a:latin typeface="Segoe UI"/>
              </a:rPr>
              <a:t>Team Three Hacks  |  github.com/Jeba-Jebarsan/AI-SMART-TRAFFIC-INTELLIGENCE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