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15_12_junction_cctv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SECOND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From a system that works to a business that 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490"/>
                </a:solidFill>
                <a:latin typeface="Segoe UI"/>
              </a:rPr>
              <a:t>AI Smart Traffic Intelligence Platform  -  how it gets onto Sri Lanka's roads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Team Three Hacks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Startup Innovation Competition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WHAT THIS DECK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You asked us seven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Your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0519" y="19568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Answered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317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4140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Who is the customer, and how do you sell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0519" y="24140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8712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connect with the Sri Lanka Police?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0519" y="28712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4 - 5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461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3284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import data from existing CCTV?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0519" y="33284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6 - 7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033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7856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At scale, where does the zone data come from?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0519" y="37856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9 - 10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605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2428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Revenue model - your cost, your earnings from a province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0519" y="42428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11 - 13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7000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SWOT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0519" y="47000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0749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1572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implement it, and what will go wrong?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0519" y="51572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57800"/>
            <a:ext cx="3401568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675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733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Who will buy it, and how we reach them.  Slides 3-5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5257800"/>
            <a:ext cx="3401568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53675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5733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Camera, AI, data, maps, detection flow.  Slides 6-10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46136" y="5257800"/>
            <a:ext cx="3401568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9016" y="53675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6" y="5733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Pricing, revenue, launch and risk.  Slides 11-15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920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have not re-pitched the detection. You already said it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Who benefits is not who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5029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1918" y="19568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8580" y="195681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Why they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3574" y="195681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77439"/>
            <a:ext cx="10652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597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councils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1918" y="24597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Commissioner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8580" y="245973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Own CCTV, get no value from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3574" y="245973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1-3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80359"/>
            <a:ext cx="106527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6265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Sri Lanka Police -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1918" y="296265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of Public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8580" y="296265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Manpower gap; needs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574" y="296265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12-24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83279"/>
            <a:ext cx="10652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46557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RDA / Expressways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1918" y="346557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Expressway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8580" y="346557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enforcement already budgeted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3574" y="346557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6-12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886199"/>
            <a:ext cx="106527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96849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fleets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1918" y="396849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8580" y="396849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Insurance, liability, driver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3574" y="396849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89119"/>
            <a:ext cx="10652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4714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Campuses, ports, BOI zones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1918" y="44714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Facilities 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8580" y="447141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roads - no legal complexity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3574" y="447141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892039"/>
            <a:ext cx="106527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9743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Insurers and donor programmes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1918" y="49743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Head of Motor / programme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8580" y="497433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Risk pricing; road-safety targets with money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3574" y="497433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3-12 months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440680"/>
            <a:ext cx="1065276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5778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The police are our </a:t>
            </a:r>
            <a:r>
              <a:rPr sz="1350" b="1">
                <a:solidFill>
                  <a:srgbClr val="0F172A"/>
                </a:solidFill>
                <a:latin typeface="Segoe UI"/>
              </a:rPr>
              <a:t>biggest</a:t>
            </a:r>
            <a:r>
              <a:rPr sz="1350" b="0">
                <a:solidFill>
                  <a:srgbClr val="0F172A"/>
                </a:solidFill>
                <a:latin typeface="Segoe UI"/>
              </a:rPr>
              <a:t> customer and our </a:t>
            </a:r>
            <a:r>
              <a:rPr sz="1350" b="1">
                <a:solidFill>
                  <a:srgbClr val="0F172A"/>
                </a:solidFill>
                <a:latin typeface="Segoe UI"/>
              </a:rPr>
              <a:t>slowest</a:t>
            </a:r>
            <a:r>
              <a:rPr sz="1350" b="0">
                <a:solidFill>
                  <a:srgbClr val="0F172A"/>
                </a:solidFill>
                <a:latin typeface="Segoe UI"/>
              </a:rPr>
              <a:t> customer. Three students cannot live two years on no revenue - so the private track (fleets, campuses, ports: no procurement, signs in a week) </a:t>
            </a:r>
            <a:r>
              <a:rPr sz="1350" b="1">
                <a:solidFill>
                  <a:srgbClr val="0F172A"/>
                </a:solidFill>
                <a:latin typeface="Segoe UI"/>
              </a:rPr>
              <a:t>funds</a:t>
            </a:r>
            <a:r>
              <a:rPr sz="1350" b="0">
                <a:solidFill>
                  <a:srgbClr val="0F172A"/>
                </a:solidFill>
                <a:latin typeface="Segoe UI"/>
              </a:rPr>
              <a:t> the government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We do not ask for a contract. We climb a ladder.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1965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Give away evidence, not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6712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Free 30-day road-safety audit at one junction for one council. We issue ZERO fines. Nobody has to be brave to say yes.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15768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1635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3-6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79775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Get a named champion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272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Take that report to the National Council for Road Safety and Police Traffic HQ. Ask for a letter of support - free for them to give.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7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764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6-12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3989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Supervised enforcement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8736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One division. Every challan approved by an officer. We publish officer-time saved and the fall in the violation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36007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36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12-24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70001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Procurement - through a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0474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Sub-contract under an integrator who already holds government vendor registration. A two-year problem becomes a two-month partnership.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76072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Every rung is something the other side can say yes to </a:t>
            </a:r>
            <a:r>
              <a:rPr sz="1400" b="1">
                <a:solidFill>
                  <a:srgbClr val="0F172A"/>
                </a:solidFill>
                <a:latin typeface="Segoe UI"/>
              </a:rPr>
              <a:t>without spending money or taking a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5B6B84"/>
                </a:solidFill>
                <a:latin typeface="Segoe UI"/>
              </a:rPr>
              <a:t>THE DESIGN DECISION THAT MAKES ENFORCEMENT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AI proposes. A police officer decides.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5803D"/>
                </a:solidFill>
                <a:latin typeface="Segoe UI"/>
              </a:rPr>
              <a:t>Built and running today - not a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Every violation is PENDING until a named officer approves it. Until then the system refuses to print, export or email it - the block is in the server, not the screen.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7091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8188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166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Evidence Act No. 14 of 1995 - a named human is accountable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7091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48188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5166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No citizen is ever fined by a 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7091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48188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5166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Officer rejections measure our false-positive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47091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48188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5166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Approve, reject and cancel are append-only. Even a session wipe is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We are not asking a court, or a country, to trust an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From a camera on a pole to a challan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1 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Existing council CCTV, our own camera, or a drone. We pull the video over the ONVIF / RTSP standard.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2  EDGE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 small computer in the cabinet that is already there. It handles about four cameras.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3 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AI finds vehicles, riders, helmets, phones and plates, and gives every vehicle an ID it keeps as it moves.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4 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map calibration turns pixels into metres, so we get real speed and real position - not a guess.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5  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Ten rules run at once. Each needs several frames of agreement before it will accuse anybody.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6 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 photo stamped with plate, time, place and rule goes to an officer's queue. Approved, it becomes a challan.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Only step 6 ever leaves the site. Everything before it happens on the pole.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Cameras that are already on the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Almost every installed camera and recorder speaks </a:t>
            </a:r>
            <a:r>
              <a:rPr sz="1400" b="1">
                <a:solidFill>
                  <a:srgbClr val="0F172A"/>
                </a:solidFill>
                <a:latin typeface="Segoe UI"/>
              </a:rPr>
              <a:t>ONVIF over RTSP</a:t>
            </a:r>
            <a:r>
              <a:rPr sz="1400" b="0">
                <a:solidFill>
                  <a:srgbClr val="0F172A"/>
                </a:solidFill>
                <a:latin typeface="Segoe UI"/>
              </a:rPr>
              <a:t>. We pull a stream - no firmware change, no rewiring, nothing new on the pole.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3401568" cy="8412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Council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6148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Installed and paid for. We just read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286000"/>
            <a:ext cx="3401568" cy="8412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3957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Our own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76148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Where none exists, or the angle is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6136" y="2286000"/>
            <a:ext cx="3401568" cy="8412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3957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Drone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76148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Already working today - we fly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91840"/>
            <a:ext cx="10652760" cy="53035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374136"/>
            <a:ext cx="308289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7611" y="3374136"/>
            <a:ext cx="48938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Network load for 1,000 cameras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0936" y="3374136"/>
            <a:ext cx="201762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22192"/>
            <a:ext cx="10652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308289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Send every video stream to a central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7611" y="3904488"/>
            <a:ext cx="48938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1,000 x 2 Mbps = 2 Gbps sustained, ~21 TB per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0936" y="3904488"/>
            <a:ext cx="201762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Impossible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52544"/>
            <a:ext cx="1065276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434840"/>
            <a:ext cx="308289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Detect at the edge, send EVENTS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7611" y="4434840"/>
            <a:ext cx="48938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 challan is ~250 KB - about 5 Mbps average across the fleet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0936" y="4434840"/>
            <a:ext cx="201762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Runs on what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83480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E7490"/>
                </a:solidFill>
                <a:latin typeface="Segoe UI"/>
              </a:rPr>
              <a:t>A 400x reduction in bandwidth - deployable on Sri Lankan municipal networks.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577840"/>
            <a:ext cx="1065276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71500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Honest caveat:</a:t>
            </a:r>
            <a:r>
              <a:rPr sz="1250" b="0">
                <a:solidFill>
                  <a:srgbClr val="0F172A"/>
                </a:solidFill>
                <a:latin typeface="Segoe UI"/>
              </a:rPr>
              <a:t> most municipal CCTV was installed to watch for theft, not to read plates. Expect ~40% of any estate to be usable without repositioning - we survey and say so </a:t>
            </a:r>
            <a:r>
              <a:rPr sz="1250" b="1">
                <a:solidFill>
                  <a:srgbClr val="0F172A"/>
                </a:solidFill>
                <a:latin typeface="Segoe UI"/>
              </a:rPr>
              <a:t>before</a:t>
            </a:r>
            <a:r>
              <a:rPr sz="1250" b="0">
                <a:solidFill>
                  <a:srgbClr val="0F172A"/>
                </a:solidFill>
                <a:latin typeface="Segoe UI"/>
              </a:rPr>
              <a:t> anyone signs.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the AI does with one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1167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One pass of the model finds vehicles, people, helmets, phones and number plates.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96896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34056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The same motorcycle keeps ID #47 across frames, so a rule can watch it over time instead of judging a snapshot.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381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Associate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564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Is this person actually ON that motorcycle? Overlap, centre and foot position are all checked - so a pedestrian is never fined.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41648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Persist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788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Three to four frames must agree before any accusation. One bad frame is never enough.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64024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828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01184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Is it genuinely moving? Net displacement with camera shake removed, so a parked bike can never be fined.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86400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05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Refuse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6235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No calibration, no geometric rules at all. We deleted our own speed estimate rather than ship one that read 155 km/h for a parked car.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636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Four of those six steps exist to STOP it firing, not to make it fire. In a product whose output is evidence, that is the whole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Where the zone data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Today a human clicks four corners of the road per clip. Fine for five cameras, impossible for five thousand. We had been mixing up </a:t>
            </a:r>
            <a:r>
              <a:rPr sz="1400" b="1">
                <a:solidFill>
                  <a:srgbClr val="0F172A"/>
                </a:solidFill>
                <a:latin typeface="Segoe UI"/>
              </a:rPr>
              <a:t>two kinds of data</a:t>
            </a:r>
            <a:r>
              <a:rPr sz="1400" b="0">
                <a:solidFill>
                  <a:srgbClr val="0F172A"/>
                </a:solidFill>
                <a:latin typeface="Segoe UI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0652760" cy="6583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414016"/>
            <a:ext cx="36155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Kind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0249" y="2414016"/>
            <a:ext cx="27633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3022" y="2414016"/>
            <a:ext cx="21241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Per camera?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66629" y="2414016"/>
            <a:ext cx="12719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90088"/>
            <a:ext cx="10652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072384"/>
            <a:ext cx="36155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Camera geometry - where the ground plane sits in THIS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0249" y="3072384"/>
            <a:ext cx="27633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4-point homography, metres per pixel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3022" y="3072384"/>
            <a:ext cx="21241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Yes. Unavoidable.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6629" y="3072384"/>
            <a:ext cx="12719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Minutes,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48456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730752"/>
            <a:ext cx="36155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World knowledge - what the law says about this piece of road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0249" y="3730752"/>
            <a:ext cx="27633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limit, no-parking, one-way, stop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3022" y="3730752"/>
            <a:ext cx="21241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No. It belongs to the map.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6629" y="3730752"/>
            <a:ext cx="12719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Once, nationally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Fix the geometry by dragging 4 points on the image and 4 on a satellite map. That one act gives speed, stop lines, direction and no-parking zones.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4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per camera, once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67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for 1,000 cameras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2 people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2 weeks, a province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re-flags if moved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2636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That is a line item on a budget. It is not a blocker.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world data already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5166360" cy="3886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WE IMPORT IT ONCE, NATIONALLY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RDA road register</a:t>
            </a:r>
            <a:r>
              <a:rPr sz="1150" b="0">
                <a:solidFill>
                  <a:srgbClr val="0F172A"/>
                </a:solidFill>
                <a:latin typeface="Segoe UI"/>
              </a:rPr>
              <a:t> - road class and centrelines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Survey Dept / GIS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built-up boundaries = the legal 50 km/h limit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Council gazetted schemes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no-parking, one-way, bus halts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OpenStreetMap</a:t>
            </a:r>
            <a:r>
              <a:rPr sz="1150" b="0">
                <a:solidFill>
                  <a:srgbClr val="0F172A"/>
                </a:solidFill>
                <a:latin typeface="Segoe UI"/>
              </a:rPr>
              <a:t> - maxspeed, oneway, crossings, schools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Motor Traffic Act defaults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where nothing is known, the law is the data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Learned proposals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reviewed and approved by a human, never auto-enforced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74519"/>
            <a:ext cx="5166360" cy="3886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Segoe UI"/>
              </a:rPr>
              <a:t>SIX OF TEN RULES NEED NO MAP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Live on day one:</a:t>
            </a:r>
            <a:r>
              <a:rPr sz="1150" b="0">
                <a:solidFill>
                  <a:srgbClr val="0F172A"/>
                </a:solidFill>
                <a:latin typeface="Segoe UI"/>
              </a:rPr>
              <a:t> No Helmet · Triple Riding · Wheelie / stunt riding · Mobile Phone Use · No Rest Break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Waiting on a model:</a:t>
            </a:r>
            <a:r>
              <a:rPr sz="1150" b="0">
                <a:solidFill>
                  <a:srgbClr val="0F172A"/>
                </a:solidFill>
                <a:latin typeface="Segoe UI"/>
              </a:rPr>
              <a:t> No Seatbelt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After geo-registration:</a:t>
            </a:r>
            <a:r>
              <a:rPr sz="1150" b="0">
                <a:solidFill>
                  <a:srgbClr val="0F172A"/>
                </a:solidFill>
                <a:latin typeface="Segoe UI"/>
              </a:rPr>
              <a:t> Over Speeding · Wrong Way · Red Light Jump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After zone import:</a:t>
            </a:r>
            <a:r>
              <a:rPr sz="1150" b="0">
                <a:solidFill>
                  <a:srgbClr val="0F172A"/>
                </a:solidFill>
                <a:latin typeface="Segoe UI"/>
              </a:rPr>
              <a:t> Illegal Parking</a:t>
            </a:r>
          </a:p>
          <a:p>
            <a:pPr algn="l">
              <a:spcAft>
                <a:spcPts val="900"/>
              </a:spcAft>
            </a:pP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They do not wait by guessing. They wait by </a:t>
            </a:r>
            <a:r>
              <a:rPr sz="1150" b="1">
                <a:solidFill>
                  <a:srgbClr val="0F172A"/>
                </a:solidFill>
                <a:latin typeface="Segoe UI"/>
              </a:rPr>
              <a:t>switching 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So we deploy on day one and enrich over weeks. The customer sees value in week one, not month six.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you subscribe or licence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297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1911096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it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8298" y="191109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58568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340864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340864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First contact. 30-day report, no fines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8298" y="234086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88336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770632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770632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Per camera. All rules, dashboard, officer 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8298" y="277063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3,500 / camera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18104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200400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 + ANPR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200400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Adds plate recognition, owner lookup, PDF challan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298" y="3200400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5,500 / camera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47872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630168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No-upfront 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630168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Same service, setup and hardware rolled in over 3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298" y="3630168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5,000 / camera /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977640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59936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4059936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Bus, logistics, plantation, courier. Driver scorecards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298" y="405993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1,000 / vehicle /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407408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489704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Provincial Licence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5808" y="4489704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/ Police HQ. Unlimited cameras, ON-PREMISE, 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8298" y="448970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12,000,000 / province / 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837176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4919472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Site Activation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5808" y="4919472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One-time: survey, geo-registration, zone import,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8298" y="491947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45,000 / camera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1389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Anchor on the alternative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50468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Not on our cost. Three constables cover one point 24/7 for ~LKR 300,000/month.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61688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4568" y="51389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Operating cost, not capital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550468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A council approves a monthly line; a purchase needs a tender. Hence no-upfront.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46136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9016" y="51389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Publish volume tiers early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9016" y="550468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100+ LKR 3,000 · 500+ LKR 2,600 · 2,000+ LKR 2,200. Never negotiate from zero.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21792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Free to enter, cheap to start, cheaper at scale, and never a capital purchase.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Is this the right price for Sri Lanka?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5486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Buyer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2335" y="191109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What they pay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2470" y="191109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Compared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4826" y="191109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77440"/>
            <a:ext cx="10652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5973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Council, 40 cameras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2335" y="245973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1.68M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2470" y="245973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Less than 2 constables cost for a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4826" y="245973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Fits an existing budget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26080"/>
            <a:ext cx="1065276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00837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Police HQ, one province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2335" y="300837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12M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2470" y="300837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 rounding error against the Police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4826" y="300837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new budget vote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74720"/>
            <a:ext cx="10652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55701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Fleet, 25 vehicles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2335" y="355701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1,000 / vehicle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2470" y="355701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About 10% of a commercial motor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4826" y="355701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Free at a 10% premium discount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23360"/>
            <a:ext cx="1065276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10565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Versus imported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2335" y="410565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~USD 140 / camera /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2470" y="410565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Imported ANPR licences run USD 200-1,000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4826" y="410565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are 3-7x cheaper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E7490"/>
                </a:solidFill>
                <a:latin typeface="Segoe UI"/>
              </a:rPr>
              <a:t>Roughly 50x cheaper per point-hour than three constables. Margin ~74%.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83480"/>
            <a:ext cx="106527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13892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The real pricing risk is not the price. It is getting paid.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59612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Government here pays in 90 to 180 days, and that is what kills small vendors. So: 25% of activation invoiced up front, the provincial licence billed quarterly in advance, and private-sector revenue held as working capital.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Western Province, three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01083" y="1911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1  -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482" y="1911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2  -  own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7881" y="19110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3  -  expand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682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Cameras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3" y="2368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482" y="2368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881" y="23682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2,200 (4 provinces)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8254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Subscriptions + licences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1083" y="28254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82" y="28254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44.4M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881" y="28254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166.8M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0040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2826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Activation, hardware,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1083" y="32826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7.9M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482" y="32826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37.4M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881" y="32826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135.0M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5760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7398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1083" y="37398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10.8M  (~$36k)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482" y="37398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81.8M  (~$273k)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881" y="37398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301.8M  (~$1.0M)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11480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1970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1083" y="4197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21.6M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482" y="4197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64.0M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881" y="41970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57200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6542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1083" y="4654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-10.8M   (this is the ask)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482" y="4654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+17.8M   BREAKEVEN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881" y="46542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20640"/>
            <a:ext cx="10652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84"/>
                </a:solidFill>
                <a:latin typeface="Segoe UI"/>
              </a:rPr>
              <a:t>All figures LKR, assuming LKR 300 = USD 1. Our own modelled assumptions with the working shown - not published facts.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77840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7150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Saturated, Sri Lanka is only ~USD 1.6M of recurring revenue.</a:t>
            </a:r>
            <a:r>
              <a:rPr sz="1250" b="0">
                <a:solidFill>
                  <a:srgbClr val="0F172A"/>
                </a:solidFill>
                <a:latin typeface="Segoe UI"/>
              </a:rPr>
              <a:t> We will say that before you do. It is the right market to PROVE this in - the same product, unchanged, fits Bangladesh, Nepal, Vietnam and East Africa, where the traffic mix is identical and the death rate is worse.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SWOT - an honest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Segoe U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exists - 10 rules on live video, 85 tests, our own evidence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Built for Sri Lankan traffic: bikes, three-wheelers, mixed lanes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refuses to guess - no calibration, no speed reading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CPU-capable and edge-first: cheap to run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Local team, local cost base, same-afternoon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revenue, no reference customer, no registered company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measured accuracy figure yet - a court will ask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Seatbelt rule disabled: the model we got is unusable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Three part-time students; no procurement or legal experience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depend on camera quality we do not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~3,000 deaths a year; enforcement is still manual and spot-based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Existing municipal CCTV is a sunk asset we can activate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PDPA 2022 compliance is a moat foreign vendors handle badly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Donor funding needs no police budget line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Fleet and insurance markets need no government sale at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Hikvision / Dahua / Huawei bundling ANPR free with hardware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Tenders written around an incumbent, or never issued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Government paying 90-180 days late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One high-profile false positive destroying trust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are students - graduation is a continuity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Launch, risks, and what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401568" cy="3977639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385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HOW WE LAUNCH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0-3 mo</a:t>
            </a:r>
            <a:r>
              <a:rPr sz="950" b="0">
                <a:solidFill>
                  <a:srgbClr val="0F172A"/>
                </a:solidFill>
                <a:latin typeface="Segoe UI"/>
              </a:rPr>
              <a:t> Incorporate. Publish real accuracy. PDPA assessment. (Officer review queue: </a:t>
            </a:r>
            <a:r>
              <a:rPr sz="950" b="1">
                <a:solidFill>
                  <a:srgbClr val="0F172A"/>
                </a:solidFill>
                <a:latin typeface="Segoe UI"/>
              </a:rPr>
              <a:t>done</a:t>
            </a:r>
            <a:r>
              <a:rPr sz="950" b="0">
                <a:solidFill>
                  <a:srgbClr val="0F172A"/>
                </a:solidFill>
                <a:latin typeface="Segoe UI"/>
              </a:rPr>
              <a:t>.)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2-5 mo</a:t>
            </a:r>
            <a:r>
              <a:rPr sz="950" b="0">
                <a:solidFill>
                  <a:srgbClr val="0F172A"/>
                </a:solidFill>
                <a:latin typeface="Segoe UI"/>
              </a:rPr>
              <a:t> Free 30-day audit, 1 council.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4-7 mo</a:t>
            </a:r>
            <a:r>
              <a:rPr sz="950" b="0">
                <a:solidFill>
                  <a:srgbClr val="0F172A"/>
                </a:solidFill>
                <a:latin typeface="Segoe UI"/>
              </a:rPr>
              <a:t> Letter from NCRS / Police HQ.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6-12 mo</a:t>
            </a:r>
            <a:r>
              <a:rPr sz="950" b="0">
                <a:solidFill>
                  <a:srgbClr val="0F172A"/>
                </a:solidFill>
                <a:latin typeface="Segoe UI"/>
              </a:rPr>
              <a:t> Supervised pilot, 20-40 cameras.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3-12 mo</a:t>
            </a:r>
            <a:r>
              <a:rPr sz="950" b="0">
                <a:solidFill>
                  <a:srgbClr val="0F172A"/>
                </a:solidFill>
                <a:latin typeface="Segoe UI"/>
              </a:rPr>
              <a:t> In parallel: 8 fleets, 2 campuses.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12-24 mo</a:t>
            </a:r>
            <a:r>
              <a:rPr sz="950" b="0">
                <a:solidFill>
                  <a:srgbClr val="0F172A"/>
                </a:solidFill>
                <a:latin typeface="Segoe UI"/>
              </a:rPr>
              <a:t> Western Province, 600 cameras. Breakeven.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24-36 mo</a:t>
            </a:r>
            <a:r>
              <a:rPr sz="950" b="0">
                <a:solidFill>
                  <a:srgbClr val="0F172A"/>
                </a:solidFill>
                <a:latin typeface="Segoe UI"/>
              </a:rPr>
              <a:t> 3 provinces + first export.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783080"/>
            <a:ext cx="3401568" cy="3977639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9385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WHAT WILL GO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Procurement takes 2 years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private revenue funds us; go via an integrator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Is AI evidence admissible?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officer approves every fine; audit trail; calibration certificate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Privacy backlash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no face recognition, ever. Plates only, 90-day purge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Cameras are the wrong quality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survey and say so before anyone signs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Government pays late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bill in advance, hold private revenue as buffer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A wrong fine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human gate (built), one-click dispute, publish our error rate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'Make this challan disappear'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append-only trail; even a session wipe is recorded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1783080"/>
            <a:ext cx="3401568" cy="3977639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9385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WHAT WE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LKR 15M</a:t>
            </a:r>
            <a:r>
              <a:rPr sz="950" b="0">
                <a:solidFill>
                  <a:srgbClr val="0F172A"/>
                </a:solidFill>
                <a:latin typeface="Segoe UI"/>
              </a:rPr>
              <a:t> (~USD 50,000) for 18 months of runway. 60% salaries.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And four things that are not money: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1.</a:t>
            </a:r>
            <a:r>
              <a:rPr sz="950" b="0">
                <a:solidFill>
                  <a:srgbClr val="0F172A"/>
                </a:solidFill>
                <a:latin typeface="Segoe UI"/>
              </a:rPr>
              <a:t> A letter of support from NCRS or Police Traffic HQ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2.</a:t>
            </a:r>
            <a:r>
              <a:rPr sz="950" b="0">
                <a:solidFill>
                  <a:srgbClr val="0F172A"/>
                </a:solidFill>
                <a:latin typeface="Segoe UI"/>
              </a:rPr>
              <a:t> One council to host a free 30-day audit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3.</a:t>
            </a:r>
            <a:r>
              <a:rPr sz="950" b="0">
                <a:solidFill>
                  <a:srgbClr val="0F172A"/>
                </a:solidFill>
                <a:latin typeface="Segoe UI"/>
              </a:rPr>
              <a:t> An introduction to a registered government IT integrator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4.</a:t>
            </a:r>
            <a:r>
              <a:rPr sz="950" b="0">
                <a:solidFill>
                  <a:srgbClr val="0F172A"/>
                </a:solidFill>
                <a:latin typeface="Segoe UI"/>
              </a:rPr>
              <a:t> Access to a labelled Sri Lankan traffic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6016752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We already built the hard part.</a:t>
            </a:r>
            <a:r>
              <a:rPr sz="1400" b="0">
                <a:solidFill>
                  <a:srgbClr val="0F172A"/>
                </a:solidFill>
                <a:latin typeface="Segoe UI"/>
              </a:rPr>
              <a:t> We are asking for the boring part: one council, one letter, one pilot.   Thank you - we are happy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