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F2F6FF"/>
                </a:solidFill>
                <a:latin typeface="Segoe UI"/>
              </a:rPr>
              <a:t>AI Smart Traffic Intelligence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22D3EE"/>
                </a:solidFill>
                <a:latin typeface="Segoe UI"/>
              </a:rPr>
              <a:t>Turning any camera feed into fair, evidence-based enforcement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FB3D1"/>
                </a:solidFill>
                <a:latin typeface="Segoe UI"/>
              </a:rPr>
              <a:t>Sri Lankan Students Innovation Challenge 2026  |  Final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937760"/>
            <a:ext cx="2651760" cy="1234440"/>
          </a:xfrm>
          <a:prstGeom prst="rect">
            <a:avLst/>
          </a:prstGeom>
          <a:solidFill>
            <a:srgbClr val="111E3D"/>
          </a:solidFill>
          <a:ln>
            <a:solidFill>
              <a:srgbClr val="294A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065776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FFC74D"/>
                </a:solidFill>
                <a:latin typeface="Segoe U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650992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>
                <a:solidFill>
                  <a:srgbClr val="9FB3D1"/>
                </a:solidFill>
                <a:latin typeface="Segoe UI"/>
              </a:rPr>
              <a:t>violation types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703320" y="4937760"/>
            <a:ext cx="2651760" cy="1234440"/>
          </a:xfrm>
          <a:prstGeom prst="rect">
            <a:avLst/>
          </a:prstGeom>
          <a:solidFill>
            <a:srgbClr val="111E3D"/>
          </a:solidFill>
          <a:ln>
            <a:solidFill>
              <a:srgbClr val="294A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5065776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FFC74D"/>
                </a:solidFill>
                <a:latin typeface="Segoe UI"/>
              </a:rPr>
              <a:t>79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5650992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>
                <a:solidFill>
                  <a:srgbClr val="9FB3D1"/>
                </a:solidFill>
                <a:latin typeface="Segoe UI"/>
              </a:rPr>
              <a:t>automated tests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4937760"/>
            <a:ext cx="2651760" cy="1234440"/>
          </a:xfrm>
          <a:prstGeom prst="rect">
            <a:avLst/>
          </a:prstGeom>
          <a:solidFill>
            <a:srgbClr val="111E3D"/>
          </a:solidFill>
          <a:ln>
            <a:solidFill>
              <a:srgbClr val="294A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5065776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FFC74D"/>
                </a:solidFill>
                <a:latin typeface="Segoe UI"/>
              </a:rPr>
              <a:t>83-163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5650992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>
                <a:solidFill>
                  <a:srgbClr val="9FB3D1"/>
                </a:solidFill>
                <a:latin typeface="Segoe UI"/>
              </a:rPr>
              <a:t>km/h verified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WHY THIS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2F6FF"/>
                </a:solidFill>
                <a:latin typeface="Segoe U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6070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1900" b="0">
                <a:solidFill>
                  <a:srgbClr val="F2F6FF"/>
                </a:solidFill>
                <a:latin typeface="Segoe UI"/>
              </a:rPr>
              <a:t>Sri Lanka records roughly </a:t>
            </a:r>
            <a:r>
              <a:rPr sz="1900" b="1">
                <a:solidFill>
                  <a:srgbClr val="F2F6FF"/>
                </a:solidFill>
                <a:latin typeface="Segoe UI"/>
              </a:rPr>
              <a:t>3,000 road deaths a year</a:t>
            </a:r>
            <a:r>
              <a:rPr sz="1900" b="0">
                <a:solidFill>
                  <a:srgbClr val="F2F6FF"/>
                </a:solidFill>
                <a:latin typeface="Segoe UI"/>
              </a:rPr>
              <a:t>, most from preventable violations.</a:t>
            </a:r>
          </a:p>
          <a:p>
            <a:pPr algn="l">
              <a:spcAft>
                <a:spcPts val="1600"/>
              </a:spcAft>
            </a:pPr>
            <a:r>
              <a:rPr sz="1900" b="0">
                <a:solidFill>
                  <a:srgbClr val="F2F6FF"/>
                </a:solidFill>
                <a:latin typeface="Segoe UI"/>
              </a:rPr>
              <a:t>Officers cannot watch every junction, 24 hours a day.</a:t>
            </a:r>
          </a:p>
          <a:p>
            <a:pPr algn="l">
              <a:spcAft>
                <a:spcPts val="1600"/>
              </a:spcAft>
            </a:pPr>
            <a:r>
              <a:rPr sz="1900" b="0">
                <a:solidFill>
                  <a:srgbClr val="F2F6FF"/>
                </a:solidFill>
                <a:latin typeface="Segoe UI"/>
              </a:rPr>
              <a:t>Violations recorded </a:t>
            </a:r>
            <a:r>
              <a:rPr sz="1900" b="1">
                <a:solidFill>
                  <a:srgbClr val="F2F6FF"/>
                </a:solidFill>
                <a:latin typeface="Segoe UI"/>
              </a:rPr>
              <a:t>without photographic proof or a verified plate</a:t>
            </a:r>
            <a:r>
              <a:rPr sz="1900" b="0">
                <a:solidFill>
                  <a:srgbClr val="F2F6FF"/>
                </a:solidFill>
                <a:latin typeface="Segoe UI"/>
              </a:rPr>
              <a:t> are disputed and unpaid.</a:t>
            </a:r>
          </a:p>
          <a:p>
            <a:pPr algn="l">
              <a:spcAft>
                <a:spcPts val="1600"/>
              </a:spcAft>
            </a:pPr>
            <a:r>
              <a:rPr sz="1900" b="0">
                <a:solidFill>
                  <a:srgbClr val="F2F6FF"/>
                </a:solidFill>
                <a:latin typeface="Segoe UI"/>
              </a:rPr>
              <a:t>No searchable record means repeat offenders go unnoticed.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C74D"/>
                </a:solidFill>
                <a:latin typeface="Segoe UI"/>
              </a:rPr>
              <a:t>Coverage and proof are the enforcement gap.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2F6FF"/>
                </a:solidFill>
                <a:latin typeface="Segoe UI"/>
              </a:rPr>
              <a:t>What we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106070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0"/>
              </a:spcAft>
            </a:pPr>
            <a:r>
              <a:rPr sz="1900" b="0">
                <a:solidFill>
                  <a:srgbClr val="F2F6FF"/>
                </a:solidFill>
                <a:latin typeface="Segoe UI"/>
              </a:rPr>
              <a:t>One AI pipeline on an ordinary camera detects </a:t>
            </a:r>
            <a:r>
              <a:rPr sz="1900" b="1">
                <a:solidFill>
                  <a:srgbClr val="F2F6FF"/>
                </a:solidFill>
                <a:latin typeface="Segoe UI"/>
              </a:rPr>
              <a:t>nine violation types</a:t>
            </a:r>
            <a:r>
              <a:rPr sz="1900" b="0">
                <a:solidFill>
                  <a:srgbClr val="F2F6FF"/>
                </a:solidFill>
                <a:latin typeface="Segoe UI"/>
              </a:rPr>
              <a:t>.</a:t>
            </a:r>
          </a:p>
          <a:p>
            <a:pPr algn="l">
              <a:spcAft>
                <a:spcPts val="1500"/>
              </a:spcAft>
            </a:pPr>
            <a:r>
              <a:rPr sz="1900" b="0">
                <a:solidFill>
                  <a:srgbClr val="F2F6FF"/>
                </a:solidFill>
                <a:latin typeface="Segoe UI"/>
              </a:rPr>
              <a:t>Reads </a:t>
            </a:r>
            <a:r>
              <a:rPr sz="1900" b="1">
                <a:solidFill>
                  <a:srgbClr val="F2F6FF"/>
                </a:solidFill>
                <a:latin typeface="Segoe UI"/>
              </a:rPr>
              <a:t>number plates on every vehicle</a:t>
            </a:r>
            <a:r>
              <a:rPr sz="1900" b="0">
                <a:solidFill>
                  <a:srgbClr val="F2F6FF"/>
                </a:solidFill>
                <a:latin typeface="Segoe UI"/>
              </a:rPr>
              <a:t>, not only offenders.</a:t>
            </a:r>
          </a:p>
          <a:p>
            <a:pPr algn="l">
              <a:spcAft>
                <a:spcPts val="1500"/>
              </a:spcAft>
            </a:pPr>
            <a:r>
              <a:rPr sz="1900" b="0">
                <a:solidFill>
                  <a:srgbClr val="F2F6FF"/>
                </a:solidFill>
                <a:latin typeface="Segoe UI"/>
              </a:rPr>
              <a:t>Measures </a:t>
            </a:r>
            <a:r>
              <a:rPr sz="1900" b="1">
                <a:solidFill>
                  <a:srgbClr val="F2F6FF"/>
                </a:solidFill>
                <a:latin typeface="Segoe UI"/>
              </a:rPr>
              <a:t>real speed</a:t>
            </a:r>
            <a:r>
              <a:rPr sz="1900" b="0">
                <a:solidFill>
                  <a:srgbClr val="F2F6FF"/>
                </a:solidFill>
                <a:latin typeface="Segoe UI"/>
              </a:rPr>
              <a:t> through per-camera geometric calibration.</a:t>
            </a:r>
          </a:p>
          <a:p>
            <a:pPr algn="l">
              <a:spcAft>
                <a:spcPts val="1500"/>
              </a:spcAft>
            </a:pPr>
            <a:r>
              <a:rPr sz="1900" b="0">
                <a:solidFill>
                  <a:srgbClr val="F2F6FF"/>
                </a:solidFill>
                <a:latin typeface="Segoe UI"/>
              </a:rPr>
              <a:t>Generates an </a:t>
            </a:r>
            <a:r>
              <a:rPr sz="1900" b="1">
                <a:solidFill>
                  <a:srgbClr val="F2F6FF"/>
                </a:solidFill>
                <a:latin typeface="Segoe UI"/>
              </a:rPr>
              <a:t>e-challan with stamped photographic evidence</a:t>
            </a:r>
            <a:r>
              <a:rPr sz="1900" b="0">
                <a:solidFill>
                  <a:srgbClr val="F2F6FF"/>
                </a:solidFill>
                <a:latin typeface="Segoe UI"/>
              </a:rPr>
              <a:t>, delivered to police.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2D3EE"/>
                </a:solidFill>
                <a:latin typeface="Segoe UI"/>
              </a:rPr>
              <a:t>Camera  -&gt;  YOLOv8s  -&gt;  ByteTrack  -&gt;  Homography  -&gt;  Violation engine  -&gt;  ANPR  -&gt;  e-Challan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CAPABILITY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2F6FF"/>
                </a:solidFill>
                <a:latin typeface="Segoe UI"/>
              </a:rPr>
              <a:t>Nine violations, one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3383280" cy="914400"/>
          </a:xfrm>
          <a:prstGeom prst="rect">
            <a:avLst/>
          </a:prstGeom>
          <a:solidFill>
            <a:srgbClr val="111E3D"/>
          </a:solidFill>
          <a:ln>
            <a:solidFill>
              <a:srgbClr val="294A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6771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2F6FF"/>
                </a:solidFill>
                <a:latin typeface="Segoe UI"/>
              </a:rPr>
              <a:t>No Helmet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2011680"/>
            <a:ext cx="3383280" cy="914400"/>
          </a:xfrm>
          <a:prstGeom prst="rect">
            <a:avLst/>
          </a:prstGeom>
          <a:solidFill>
            <a:srgbClr val="111E3D"/>
          </a:solidFill>
          <a:ln>
            <a:solidFill>
              <a:srgbClr val="294A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226771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2F6FF"/>
                </a:solidFill>
                <a:latin typeface="Segoe UI"/>
              </a:rPr>
              <a:t>Triple Riding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0" y="2011680"/>
            <a:ext cx="3383280" cy="914400"/>
          </a:xfrm>
          <a:prstGeom prst="rect">
            <a:avLst/>
          </a:prstGeom>
          <a:solidFill>
            <a:srgbClr val="111E3D"/>
          </a:solidFill>
          <a:ln>
            <a:solidFill>
              <a:srgbClr val="294A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226771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2F6FF"/>
                </a:solidFill>
                <a:latin typeface="Segoe UI"/>
              </a:rPr>
              <a:t>Over Speeding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154680"/>
            <a:ext cx="3383280" cy="914400"/>
          </a:xfrm>
          <a:prstGeom prst="rect">
            <a:avLst/>
          </a:prstGeom>
          <a:solidFill>
            <a:srgbClr val="111E3D"/>
          </a:solidFill>
          <a:ln>
            <a:solidFill>
              <a:srgbClr val="294A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41071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2F6FF"/>
                </a:solidFill>
                <a:latin typeface="Segoe UI"/>
              </a:rPr>
              <a:t>Red Light Jump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3154680"/>
            <a:ext cx="3383280" cy="914400"/>
          </a:xfrm>
          <a:prstGeom prst="rect">
            <a:avLst/>
          </a:prstGeom>
          <a:solidFill>
            <a:srgbClr val="111E3D"/>
          </a:solidFill>
          <a:ln>
            <a:solidFill>
              <a:srgbClr val="294A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341071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2F6FF"/>
                </a:solidFill>
                <a:latin typeface="Segoe UI"/>
              </a:rPr>
              <a:t>Wrong Way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3154680"/>
            <a:ext cx="3383280" cy="914400"/>
          </a:xfrm>
          <a:prstGeom prst="rect">
            <a:avLst/>
          </a:prstGeom>
          <a:solidFill>
            <a:srgbClr val="111E3D"/>
          </a:solidFill>
          <a:ln>
            <a:solidFill>
              <a:srgbClr val="294A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341071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2F6FF"/>
                </a:solidFill>
                <a:latin typeface="Segoe UI"/>
              </a:rPr>
              <a:t>No Seatbelt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297680"/>
            <a:ext cx="3383280" cy="914400"/>
          </a:xfrm>
          <a:prstGeom prst="rect">
            <a:avLst/>
          </a:prstGeom>
          <a:solidFill>
            <a:srgbClr val="111E3D"/>
          </a:solidFill>
          <a:ln>
            <a:solidFill>
              <a:srgbClr val="294A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55371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2F6FF"/>
                </a:solidFill>
                <a:latin typeface="Segoe UI"/>
              </a:rPr>
              <a:t>Mobile Phone Use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0" y="4297680"/>
            <a:ext cx="3383280" cy="914400"/>
          </a:xfrm>
          <a:prstGeom prst="rect">
            <a:avLst/>
          </a:prstGeom>
          <a:solidFill>
            <a:srgbClr val="111E3D"/>
          </a:solidFill>
          <a:ln>
            <a:solidFill>
              <a:srgbClr val="294A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0" y="455371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2F6FF"/>
                </a:solidFill>
                <a:latin typeface="Segoe UI"/>
              </a:rPr>
              <a:t>Illegal Parking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0" y="4297680"/>
            <a:ext cx="3383280" cy="914400"/>
          </a:xfrm>
          <a:prstGeom prst="rect">
            <a:avLst/>
          </a:prstGeom>
          <a:solidFill>
            <a:srgbClr val="111E3D"/>
          </a:solidFill>
          <a:ln>
            <a:solidFill>
              <a:srgbClr val="294A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0" y="455371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2F6FF"/>
                </a:solidFill>
                <a:latin typeface="Segoe UI"/>
              </a:rPr>
              <a:t>Driver Fatigue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6692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9FB3D1"/>
                </a:solidFill>
                <a:latin typeface="Segoe UI"/>
              </a:rPr>
              <a:t>Plus ANPR on every tracked vehicle, building a searchable log.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VERIFIED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2F6FF"/>
                </a:solidFill>
                <a:latin typeface="Segoe UI"/>
              </a:rPr>
              <a:t>Proof: over-speeding</a:t>
            </a:r>
          </a:p>
        </p:txBody>
      </p:sp>
      <p:pic>
        <p:nvPicPr>
          <p:cNvPr id="5" name="Picture 4" descr="01_over_speeding_evidence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5720" y="1783080"/>
            <a:ext cx="6990080" cy="3931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897880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50" b="0">
                <a:solidFill>
                  <a:srgbClr val="9FB3D1"/>
                </a:solidFill>
                <a:latin typeface="Segoe UI"/>
              </a:rPr>
              <a:t>134.0 km/h in a 60 zone - vehicle boxed, plate zoomed, proof stamped onto the image. </a:t>
            </a:r>
            <a:r>
              <a:rPr sz="1450" b="1">
                <a:solidFill>
                  <a:srgbClr val="9FB3D1"/>
                </a:solidFill>
                <a:latin typeface="Segoe UI"/>
              </a:rPr>
              <a:t>7 over-speeding events</a:t>
            </a:r>
            <a:r>
              <a:rPr sz="1450" b="0">
                <a:solidFill>
                  <a:srgbClr val="9FB3D1"/>
                </a:solidFill>
                <a:latin typeface="Segoe UI"/>
              </a:rPr>
              <a:t> measured at </a:t>
            </a:r>
            <a:r>
              <a:rPr sz="1450" b="1">
                <a:solidFill>
                  <a:srgbClr val="9FB3D1"/>
                </a:solidFill>
                <a:latin typeface="Segoe UI"/>
              </a:rPr>
              <a:t>83-163 km/h</a:t>
            </a:r>
            <a:r>
              <a:rPr sz="1450" b="0">
                <a:solidFill>
                  <a:srgbClr val="9FB3D1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VERIFIED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2F6FF"/>
                </a:solidFill>
                <a:latin typeface="Segoe UI"/>
              </a:rPr>
              <a:t>Proof: helmet and triple riding</a:t>
            </a:r>
          </a:p>
        </p:txBody>
      </p:sp>
      <p:pic>
        <p:nvPicPr>
          <p:cNvPr id="5" name="Picture 4" descr="07_image_upload_triple_helme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1820" y="1783080"/>
            <a:ext cx="5897880" cy="3931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897880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50" b="0">
                <a:solidFill>
                  <a:srgbClr val="9FB3D1"/>
                </a:solidFill>
                <a:latin typeface="Segoe UI"/>
              </a:rPr>
              <a:t>Both violations detected from a </a:t>
            </a:r>
            <a:r>
              <a:rPr sz="1450" b="1">
                <a:solidFill>
                  <a:srgbClr val="9FB3D1"/>
                </a:solidFill>
                <a:latin typeface="Segoe UI"/>
              </a:rPr>
              <a:t>single uploaded photograph</a:t>
            </a:r>
            <a:r>
              <a:rPr sz="1450" b="0">
                <a:solidFill>
                  <a:srgbClr val="9FB3D1"/>
                </a:solidFill>
                <a:latin typeface="Segoe UI"/>
              </a:rPr>
              <a:t>, producing </a:t>
            </a:r>
            <a:r>
              <a:rPr sz="1450" b="1">
                <a:solidFill>
                  <a:srgbClr val="9FB3D1"/>
                </a:solidFill>
                <a:latin typeface="Segoe UI"/>
              </a:rPr>
              <a:t>two separate challans</a:t>
            </a:r>
            <a:r>
              <a:rPr sz="1450" b="0">
                <a:solidFill>
                  <a:srgbClr val="9FB3D1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VERIFIED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2F6FF"/>
                </a:solidFill>
                <a:latin typeface="Segoe UI"/>
              </a:rPr>
              <a:t>Proof: number-plate recognition</a:t>
            </a:r>
          </a:p>
        </p:txBody>
      </p:sp>
      <p:pic>
        <p:nvPicPr>
          <p:cNvPr id="5" name="Picture 4" descr="05_anpr_sri_lanka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9480" y="1783080"/>
            <a:ext cx="5242560" cy="3931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897880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50" b="0">
                <a:solidFill>
                  <a:srgbClr val="9FB3D1"/>
                </a:solidFill>
                <a:latin typeface="Segoe UI"/>
              </a:rPr>
              <a:t>Live Sri Lankan road: 18 vehicles tracked, plate </a:t>
            </a:r>
            <a:r>
              <a:rPr sz="1450" b="1">
                <a:solidFill>
                  <a:srgbClr val="9FB3D1"/>
                </a:solidFill>
                <a:latin typeface="Segoe UI"/>
              </a:rPr>
              <a:t>AAG 4002</a:t>
            </a:r>
            <a:r>
              <a:rPr sz="1450" b="0">
                <a:solidFill>
                  <a:srgbClr val="9FB3D1"/>
                </a:solidFill>
                <a:latin typeface="Segoe UI"/>
              </a:rPr>
              <a:t> read and confirmed. A plate counts only when </a:t>
            </a:r>
            <a:r>
              <a:rPr sz="1450" b="1">
                <a:solidFill>
                  <a:srgbClr val="9FB3D1"/>
                </a:solidFill>
                <a:latin typeface="Segoe UI"/>
              </a:rPr>
              <a:t>three separate reads agree</a:t>
            </a:r>
            <a:r>
              <a:rPr sz="1450" b="0">
                <a:solidFill>
                  <a:srgbClr val="9FB3D1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THE DIFFERENTIATOR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2F6FF"/>
                </a:solidFill>
                <a:latin typeface="Segoe UI"/>
              </a:rPr>
              <a:t>Why it can be trusted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300"/>
              </a:spcAft>
            </a:pPr>
            <a:r>
              <a:rPr sz="1750" b="1">
                <a:solidFill>
                  <a:srgbClr val="F2F6FF"/>
                </a:solidFill>
                <a:latin typeface="Segoe UI"/>
              </a:rPr>
              <a:t>Parked vehicles are never fined</a:t>
            </a:r>
            <a:r>
              <a:rPr sz="1750" b="0">
                <a:solidFill>
                  <a:srgbClr val="F2F6FF"/>
                </a:solidFill>
                <a:latin typeface="Segoe UI"/>
              </a:rPr>
              <a:t> - 41 vehicles, 0 violations on a parked-motorcycle clip.</a:t>
            </a:r>
          </a:p>
          <a:p>
            <a:pPr algn="l">
              <a:spcAft>
                <a:spcPts val="1300"/>
              </a:spcAft>
            </a:pPr>
            <a:r>
              <a:rPr sz="1750" b="1">
                <a:solidFill>
                  <a:srgbClr val="F2F6FF"/>
                </a:solidFill>
                <a:latin typeface="Segoe UI"/>
              </a:rPr>
              <a:t>Unreadable plates say UNREADABLE</a:t>
            </a:r>
            <a:r>
              <a:rPr sz="1750" b="0">
                <a:solidFill>
                  <a:srgbClr val="F2F6FF"/>
                </a:solidFill>
                <a:latin typeface="Segoe UI"/>
              </a:rPr>
              <a:t> - a number is never invented.</a:t>
            </a:r>
          </a:p>
          <a:p>
            <a:pPr algn="l">
              <a:spcAft>
                <a:spcPts val="1300"/>
              </a:spcAft>
            </a:pPr>
            <a:r>
              <a:rPr sz="1750" b="1">
                <a:solidFill>
                  <a:srgbClr val="F2F6FF"/>
                </a:solidFill>
                <a:latin typeface="Segoe UI"/>
              </a:rPr>
              <a:t>No calibration means no speed shown</a:t>
            </a:r>
            <a:r>
              <a:rPr sz="1750" b="0">
                <a:solidFill>
                  <a:srgbClr val="F2F6FF"/>
                </a:solidFill>
                <a:latin typeface="Segoe UI"/>
              </a:rPr>
              <a:t>, rather than a misleading guess.</a:t>
            </a:r>
          </a:p>
          <a:p>
            <a:pPr algn="l">
              <a:spcAft>
                <a:spcPts val="1300"/>
              </a:spcAft>
            </a:pPr>
            <a:r>
              <a:rPr sz="1750" b="1">
                <a:solidFill>
                  <a:srgbClr val="F2F6FF"/>
                </a:solidFill>
                <a:latin typeface="Segoe UI"/>
              </a:rPr>
              <a:t>A violation must persist across frames</a:t>
            </a:r>
            <a:r>
              <a:rPr sz="1750" b="0">
                <a:solidFill>
                  <a:srgbClr val="F2F6FF"/>
                </a:solidFill>
                <a:latin typeface="Segoe UI"/>
              </a:rPr>
              <a:t> - one-frame anomalies are rejected.</a:t>
            </a:r>
          </a:p>
          <a:p>
            <a:pPr algn="l">
              <a:spcAft>
                <a:spcPts val="1300"/>
              </a:spcAft>
            </a:pPr>
            <a:r>
              <a:rPr sz="1750" b="1">
                <a:solidFill>
                  <a:srgbClr val="F2F6FF"/>
                </a:solidFill>
                <a:latin typeface="Segoe UI"/>
              </a:rPr>
              <a:t>No mock data exists</a:t>
            </a:r>
            <a:r>
              <a:rPr sz="1750" b="0">
                <a:solidFill>
                  <a:srgbClr val="F2F6FF"/>
                </a:solidFill>
                <a:latin typeface="Segoe UI"/>
              </a:rPr>
              <a:t> anywhere in the product.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074920"/>
            <a:ext cx="3291840" cy="1234440"/>
          </a:xfrm>
          <a:prstGeom prst="rect">
            <a:avLst/>
          </a:prstGeom>
          <a:solidFill>
            <a:srgbClr val="111E3D"/>
          </a:solidFill>
          <a:ln>
            <a:solidFill>
              <a:srgbClr val="294A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202936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FFC74D"/>
                </a:solidFill>
                <a:latin typeface="Segoe U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78815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>
                <a:solidFill>
                  <a:srgbClr val="9FB3D1"/>
                </a:solidFill>
                <a:latin typeface="Segoe UI"/>
              </a:rPr>
              <a:t>false-positive defects found and fixed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5074920"/>
            <a:ext cx="3291840" cy="1234440"/>
          </a:xfrm>
          <a:prstGeom prst="rect">
            <a:avLst/>
          </a:prstGeom>
          <a:solidFill>
            <a:srgbClr val="111E3D"/>
          </a:solidFill>
          <a:ln>
            <a:solidFill>
              <a:srgbClr val="294A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5202936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4ADE80"/>
                </a:solidFill>
                <a:latin typeface="Segoe UI"/>
              </a:rPr>
              <a:t>79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578815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>
                <a:solidFill>
                  <a:srgbClr val="9FB3D1"/>
                </a:solidFill>
                <a:latin typeface="Segoe UI"/>
              </a:rPr>
              <a:t>automated tests passing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79" y="5074920"/>
            <a:ext cx="3291840" cy="1234440"/>
          </a:xfrm>
          <a:prstGeom prst="rect">
            <a:avLst/>
          </a:prstGeom>
          <a:solidFill>
            <a:srgbClr val="111E3D"/>
          </a:solidFill>
          <a:ln>
            <a:solidFill>
              <a:srgbClr val="294A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79" y="5202936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22D3EE"/>
                </a:solidFill>
                <a:latin typeface="Segoe UI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578815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>
                <a:solidFill>
                  <a:srgbClr val="9FB3D1"/>
                </a:solidFill>
                <a:latin typeface="Segoe UI"/>
              </a:rPr>
              <a:t>violations on parked bikes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ENGINEERING RIGOUR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2F6FF"/>
                </a:solidFill>
                <a:latin typeface="Segoe UI"/>
              </a:rPr>
              <a:t>Found by testing on real footage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2F6FF"/>
                </a:solidFill>
                <a:latin typeface="Segoe UI"/>
              </a:rPr>
              <a:t>Moving vehicles fined for parking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1874519"/>
            <a:ext cx="5669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9FB3D1"/>
                </a:solidFill>
                <a:latin typeface="Segoe UI"/>
              </a:rPr>
              <a:t>Motion gate misjudged 89% of moving vehicles as stationary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74320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2F6FF"/>
                </a:solidFill>
                <a:latin typeface="Segoe UI"/>
              </a:rPr>
              <a:t>Helmeted riders accused of no helmet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2743200"/>
            <a:ext cx="5669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9FB3D1"/>
                </a:solidFill>
                <a:latin typeface="Segoe UI"/>
              </a:rPr>
              <a:t>Helmet crop caught neighbouring riders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611879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2F6FF"/>
                </a:solidFill>
                <a:latin typeface="Segoe UI"/>
              </a:rPr>
              <a:t>Bare heads marked compliant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3611879"/>
            <a:ext cx="5669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9FB3D1"/>
                </a:solidFill>
                <a:latin typeface="Segoe UI"/>
              </a:rPr>
              <a:t>Compliance threshold lower than the accusation threshold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480559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2F6FF"/>
                </a:solidFill>
                <a:latin typeface="Segoe UI"/>
              </a:rPr>
              <a:t>Stopped car fined for a red light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4480559"/>
            <a:ext cx="5669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9FB3D1"/>
                </a:solidFill>
                <a:latin typeface="Segoe UI"/>
              </a:rPr>
              <a:t>Signal from a different approach was applied to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34924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2F6FF"/>
                </a:solidFill>
                <a:latin typeface="Segoe UI"/>
              </a:rPr>
              <a:t>Wrong plate numbers on challans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5349240"/>
            <a:ext cx="5669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9FB3D1"/>
                </a:solidFill>
                <a:latin typeface="Segoe UI"/>
              </a:rPr>
              <a:t>Two agreeing OCR reads could both be wrong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2636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2D3EE"/>
                </a:solidFill>
                <a:latin typeface="Segoe UI"/>
              </a:rPr>
              <a:t>Each is now covered by the automated test suite.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PRACTICAL AND MODULAR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2F6FF"/>
                </a:solidFill>
                <a:latin typeface="Segoe UI"/>
              </a:rPr>
              <a:t>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800" b="0">
                <a:solidFill>
                  <a:srgbClr val="F2F6FF"/>
                </a:solidFill>
                <a:latin typeface="Segoe UI"/>
              </a:rPr>
              <a:t>Works with </a:t>
            </a:r>
            <a:r>
              <a:rPr sz="1800" b="1">
                <a:solidFill>
                  <a:srgbClr val="F2F6FF"/>
                </a:solidFill>
                <a:latin typeface="Segoe UI"/>
              </a:rPr>
              <a:t>existing CCTV</a:t>
            </a:r>
            <a:r>
              <a:rPr sz="1800" b="0">
                <a:solidFill>
                  <a:srgbClr val="F2F6FF"/>
                </a:solidFill>
                <a:latin typeface="Segoe UI"/>
              </a:rPr>
              <a:t>, a phone stream, or a drone via OBS - no new hardware.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F2F6FF"/>
                </a:solidFill>
                <a:latin typeface="Segoe UI"/>
              </a:rPr>
              <a:t>A pilot site runs on a </a:t>
            </a:r>
            <a:r>
              <a:rPr sz="1800" b="1">
                <a:solidFill>
                  <a:srgbClr val="F2F6FF"/>
                </a:solidFill>
                <a:latin typeface="Segoe UI"/>
              </a:rPr>
              <a:t>single laptop</a:t>
            </a:r>
            <a:r>
              <a:rPr sz="1800" b="0">
                <a:solidFill>
                  <a:srgbClr val="F2F6FF"/>
                </a:solidFill>
                <a:latin typeface="Segoe UI"/>
              </a:rPr>
              <a:t>; cities use GPU edge boxes.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F2F6FF"/>
                </a:solidFill>
                <a:latin typeface="Segoe UI"/>
              </a:rPr>
              <a:t>Helmet, seatbelt, plate and three-wheeler models are </a:t>
            </a:r>
            <a:r>
              <a:rPr sz="1800" b="1">
                <a:solidFill>
                  <a:srgbClr val="F2F6FF"/>
                </a:solidFill>
                <a:latin typeface="Segoe UI"/>
              </a:rPr>
              <a:t>drop-in files</a:t>
            </a:r>
            <a:r>
              <a:rPr sz="1800" b="0">
                <a:solidFill>
                  <a:srgbClr val="F2F6FF"/>
                </a:solidFill>
                <a:latin typeface="Segoe UI"/>
              </a:rPr>
              <a:t> - no code change.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F2F6FF"/>
                </a:solidFill>
                <a:latin typeface="Segoe UI"/>
              </a:rPr>
              <a:t>Python, FastAPI, YOLOv8, ByteTrack, OpenCV, EasyOCR, SQLite.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F2F6FF"/>
                </a:solidFill>
                <a:latin typeface="Segoe UI"/>
              </a:rPr>
              <a:t>The dashboard is a </a:t>
            </a:r>
            <a:r>
              <a:rPr sz="1800" b="1">
                <a:solidFill>
                  <a:srgbClr val="F2F6FF"/>
                </a:solidFill>
                <a:latin typeface="Segoe UI"/>
              </a:rPr>
              <a:t>single self-contained HTML file</a:t>
            </a:r>
            <a:r>
              <a:rPr sz="1800" b="0">
                <a:solidFill>
                  <a:srgbClr val="F2F6FF"/>
                </a:solidFill>
                <a:latin typeface="Segoe UI"/>
              </a:rPr>
              <a:t> with no external dependencies.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WHERE THIS GOES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2F6FF"/>
                </a:solidFill>
                <a:latin typeface="Segoe UI"/>
              </a:rPr>
              <a:t>Impact and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106070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0"/>
              </a:spcAft>
            </a:pPr>
            <a:r>
              <a:rPr sz="1850" b="1">
                <a:solidFill>
                  <a:srgbClr val="F2F6FF"/>
                </a:solidFill>
                <a:latin typeface="Segoe UI"/>
              </a:rPr>
              <a:t>24/7 coverage</a:t>
            </a:r>
            <a:r>
              <a:rPr sz="1850" b="0">
                <a:solidFill>
                  <a:srgbClr val="F2F6FF"/>
                </a:solidFill>
                <a:latin typeface="Segoe UI"/>
              </a:rPr>
              <a:t> without multiplying officers.</a:t>
            </a:r>
          </a:p>
          <a:p>
            <a:pPr algn="l">
              <a:spcAft>
                <a:spcPts val="1500"/>
              </a:spcAft>
            </a:pPr>
            <a:r>
              <a:rPr sz="1850" b="1">
                <a:solidFill>
                  <a:srgbClr val="F2F6FF"/>
                </a:solidFill>
                <a:latin typeface="Segoe UI"/>
              </a:rPr>
              <a:t>Court-ready evidence</a:t>
            </a:r>
            <a:r>
              <a:rPr sz="1850" b="0">
                <a:solidFill>
                  <a:srgbClr val="F2F6FF"/>
                </a:solidFill>
                <a:latin typeface="Segoe UI"/>
              </a:rPr>
              <a:t> means fines that hold up when challenged.</a:t>
            </a:r>
          </a:p>
          <a:p>
            <a:pPr algn="l">
              <a:spcAft>
                <a:spcPts val="1500"/>
              </a:spcAft>
            </a:pPr>
            <a:r>
              <a:rPr sz="1850" b="0">
                <a:solidFill>
                  <a:srgbClr val="F2F6FF"/>
                </a:solidFill>
                <a:latin typeface="Segoe UI"/>
              </a:rPr>
              <a:t>A searchable plate log enables </a:t>
            </a:r>
            <a:r>
              <a:rPr sz="1850" b="1">
                <a:solidFill>
                  <a:srgbClr val="F2F6FF"/>
                </a:solidFill>
                <a:latin typeface="Segoe UI"/>
              </a:rPr>
              <a:t>repeat-offender analytics</a:t>
            </a:r>
            <a:r>
              <a:rPr sz="1850" b="0">
                <a:solidFill>
                  <a:srgbClr val="F2F6FF"/>
                </a:solidFill>
                <a:latin typeface="Segoe UI"/>
              </a:rPr>
              <a:t>.</a:t>
            </a:r>
          </a:p>
          <a:p>
            <a:pPr algn="l">
              <a:spcAft>
                <a:spcPts val="1500"/>
              </a:spcAft>
            </a:pPr>
            <a:r>
              <a:rPr sz="1850" b="0">
                <a:solidFill>
                  <a:srgbClr val="F2F6FF"/>
                </a:solidFill>
                <a:latin typeface="Segoe UI"/>
              </a:rPr>
              <a:t>Next: night and weather models, a vision-language model for ambiguous cases, and a live junction pilot.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FFC74D"/>
                </a:solidFill>
                <a:latin typeface="Segoe UI"/>
              </a:rPr>
              <a:t>Colombo already has over a hundred road cameras. We turn each one into a traffic officer.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6517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200" b="1">
                <a:solidFill>
                  <a:srgbClr val="F2F6FF"/>
                </a:solidFill>
                <a:latin typeface="Segoe UI"/>
              </a:rPr>
              <a:t>Safer roads, proven by evidence.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40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22D3EE"/>
                </a:solidFill>
                <a:latin typeface="Segoe UI"/>
              </a:rPr>
              <a:t>AI Smart Traffic Intelligence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5720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9FB3D1"/>
                </a:solidFill>
                <a:latin typeface="Segoe UI"/>
              </a:rPr>
              <a:t>github.com/Jeba-Jebarsan/AI-SMART-TRAFFIC-INTELLIGENCE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