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2F6FF"/>
                </a:solidFill>
                <a:latin typeface="Segoe UI"/>
              </a:rPr>
              <a:t>AI Smart Traffic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D3EE"/>
                </a:solidFill>
                <a:latin typeface="Segoe UI"/>
              </a:rPr>
              <a:t>Turning any camera feed into fair, evidence-based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FB3D1"/>
                </a:solidFill>
                <a:latin typeface="Segoe UI"/>
              </a:rPr>
              <a:t>Team Three Hacks  |  Startup Innovation Competition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937760"/>
            <a:ext cx="2651760" cy="1234440"/>
          </a:xfrm>
          <a:prstGeom prst="rect">
            <a:avLst/>
          </a:prstGeom>
          <a:solidFill>
            <a:srgbClr val="111E3D"/>
          </a:solidFill>
          <a:ln>
            <a:solidFill>
              <a:srgbClr val="294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6577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C74D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FB3D1"/>
                </a:solidFill>
                <a:latin typeface="Segoe UI"/>
              </a:rPr>
              <a:t>violation types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4937760"/>
            <a:ext cx="2651760" cy="1234440"/>
          </a:xfrm>
          <a:prstGeom prst="rect">
            <a:avLst/>
          </a:prstGeom>
          <a:solidFill>
            <a:srgbClr val="111E3D"/>
          </a:solidFill>
          <a:ln>
            <a:solidFill>
              <a:srgbClr val="294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506577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C74D"/>
                </a:solidFill>
                <a:latin typeface="Segoe UI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56509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FB3D1"/>
                </a:solidFill>
                <a:latin typeface="Segoe UI"/>
              </a:rPr>
              <a:t>automated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4937760"/>
            <a:ext cx="2651760" cy="1234440"/>
          </a:xfrm>
          <a:prstGeom prst="rect">
            <a:avLst/>
          </a:prstGeom>
          <a:solidFill>
            <a:srgbClr val="111E3D"/>
          </a:solidFill>
          <a:ln>
            <a:solidFill>
              <a:srgbClr val="294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5065776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C74D"/>
                </a:solidFill>
                <a:latin typeface="Segoe UI"/>
              </a:rPr>
              <a:t>83-163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65099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FB3D1"/>
                </a:solidFill>
                <a:latin typeface="Segoe UI"/>
              </a:rPr>
              <a:t>km/h speed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50" b="0">
                <a:solidFill>
                  <a:srgbClr val="F2F6FF"/>
                </a:solidFill>
                <a:latin typeface="Segoe UI"/>
              </a:rPr>
              <a:t>Sri Lanka records roughly </a:t>
            </a:r>
            <a:r>
              <a:rPr sz="1850" b="1">
                <a:solidFill>
                  <a:srgbClr val="F2F6FF"/>
                </a:solidFill>
                <a:latin typeface="Segoe UI"/>
              </a:rPr>
              <a:t>3,000 road deaths a year</a:t>
            </a:r>
            <a:r>
              <a:rPr sz="1850" b="0">
                <a:solidFill>
                  <a:srgbClr val="F2F6FF"/>
                </a:solidFill>
                <a:latin typeface="Segoe UI"/>
              </a:rPr>
              <a:t>, most from preventable violations.</a:t>
            </a:r>
          </a:p>
          <a:p>
            <a:pPr algn="l">
              <a:spcAft>
                <a:spcPts val="1400"/>
              </a:spcAft>
            </a:pPr>
            <a:r>
              <a:rPr sz="1850" b="0">
                <a:solidFill>
                  <a:srgbClr val="F2F6FF"/>
                </a:solidFill>
                <a:latin typeface="Segoe UI"/>
              </a:rPr>
              <a:t>Officers cannot watch every junction, 24 hours a day - enforcement is a </a:t>
            </a:r>
            <a:r>
              <a:rPr sz="1850" b="1">
                <a:solidFill>
                  <a:srgbClr val="F2F6FF"/>
                </a:solidFill>
                <a:latin typeface="Segoe UI"/>
              </a:rPr>
              <a:t>human bottleneck</a:t>
            </a:r>
            <a:r>
              <a:rPr sz="1850" b="0">
                <a:solidFill>
                  <a:srgbClr val="F2F6FF"/>
                </a:solidFill>
                <a:latin typeface="Segoe UI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850" b="0">
                <a:solidFill>
                  <a:srgbClr val="F2F6FF"/>
                </a:solidFill>
                <a:latin typeface="Segoe UI"/>
              </a:rPr>
              <a:t>Violations recorded </a:t>
            </a:r>
            <a:r>
              <a:rPr sz="1850" b="1">
                <a:solidFill>
                  <a:srgbClr val="F2F6FF"/>
                </a:solidFill>
                <a:latin typeface="Segoe UI"/>
              </a:rPr>
              <a:t>without photographic proof or a verified plate</a:t>
            </a:r>
            <a:r>
              <a:rPr sz="1850" b="0">
                <a:solidFill>
                  <a:srgbClr val="F2F6FF"/>
                </a:solidFill>
                <a:latin typeface="Segoe UI"/>
              </a:rPr>
              <a:t> are disputed and go unpaid.</a:t>
            </a:r>
          </a:p>
          <a:p>
            <a:pPr algn="l">
              <a:spcAft>
                <a:spcPts val="1400"/>
              </a:spcAft>
            </a:pPr>
            <a:r>
              <a:rPr sz="1850" b="0">
                <a:solidFill>
                  <a:srgbClr val="F2F6FF"/>
                </a:solidFill>
                <a:latin typeface="Segoe UI"/>
              </a:rPr>
              <a:t>No searchable record means </a:t>
            </a:r>
            <a:r>
              <a:rPr sz="1850" b="1">
                <a:solidFill>
                  <a:srgbClr val="F2F6FF"/>
                </a:solidFill>
                <a:latin typeface="Segoe UI"/>
              </a:rPr>
              <a:t>repeat offenders go unnoticed</a:t>
            </a:r>
            <a:r>
              <a:rPr sz="1850" b="0">
                <a:solidFill>
                  <a:srgbClr val="F2F6FF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C74D"/>
                </a:solidFill>
                <a:latin typeface="Segoe UI"/>
              </a:rPr>
              <a:t>Coverage and proof are the enforcement gap.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What already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Colombo alone has </a:t>
            </a:r>
            <a:r>
              <a:rPr sz="1350" b="1">
                <a:solidFill>
                  <a:srgbClr val="F2F6FF"/>
                </a:solidFill>
                <a:latin typeface="Segoe UI"/>
              </a:rPr>
              <a:t>over 100 road cameras</a:t>
            </a:r>
            <a:r>
              <a:rPr sz="1350" b="0">
                <a:solidFill>
                  <a:srgbClr val="F2F6FF"/>
                </a:solidFill>
                <a:latin typeface="Segoe UI"/>
              </a:rPr>
              <a:t> already installed.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Police already issue spot fines - the legal framework is in place.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Smartphones and drones make any road coverable today.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What is missing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Those cameras are </a:t>
            </a:r>
            <a:r>
              <a:rPr sz="1350" b="1">
                <a:solidFill>
                  <a:srgbClr val="F2F6FF"/>
                </a:solidFill>
                <a:latin typeface="Segoe UI"/>
              </a:rPr>
              <a:t>watched by people, or not at all</a:t>
            </a:r>
            <a:r>
              <a:rPr sz="1350" b="0">
                <a:solidFill>
                  <a:srgbClr val="F2F6FF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No automatic link from camera to challan to payment.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Enforcement scales with headcount, not with technology.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C74D"/>
                </a:solidFill>
                <a:latin typeface="Segoe UI"/>
              </a:rPr>
              <a:t>We do not need new cameras. We need intelligence behind the ones already there.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F2F6FF"/>
                </a:solidFill>
                <a:latin typeface="Segoe UI"/>
              </a:rPr>
              <a:t>One AI pipeline on an ordinary camera detects </a:t>
            </a:r>
            <a:r>
              <a:rPr sz="1800" b="1">
                <a:solidFill>
                  <a:srgbClr val="F2F6FF"/>
                </a:solidFill>
                <a:latin typeface="Segoe UI"/>
              </a:rPr>
              <a:t>nine violation types</a:t>
            </a:r>
            <a:r>
              <a:rPr sz="1800" b="0">
                <a:solidFill>
                  <a:srgbClr val="F2F6FF"/>
                </a:solidFill>
                <a:latin typeface="Segoe UI"/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F2F6FF"/>
                </a:solidFill>
                <a:latin typeface="Segoe UI"/>
              </a:rPr>
              <a:t>Reads </a:t>
            </a:r>
            <a:r>
              <a:rPr sz="1800" b="1">
                <a:solidFill>
                  <a:srgbClr val="F2F6FF"/>
                </a:solidFill>
                <a:latin typeface="Segoe UI"/>
              </a:rPr>
              <a:t>number plates on every vehicle</a:t>
            </a:r>
            <a:r>
              <a:rPr sz="1800" b="0">
                <a:solidFill>
                  <a:srgbClr val="F2F6FF"/>
                </a:solidFill>
                <a:latin typeface="Segoe UI"/>
              </a:rPr>
              <a:t>, not only offenders.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F2F6FF"/>
                </a:solidFill>
                <a:latin typeface="Segoe UI"/>
              </a:rPr>
              <a:t>Measures </a:t>
            </a:r>
            <a:r>
              <a:rPr sz="1800" b="1">
                <a:solidFill>
                  <a:srgbClr val="F2F6FF"/>
                </a:solidFill>
                <a:latin typeface="Segoe UI"/>
              </a:rPr>
              <a:t>real road speed</a:t>
            </a:r>
            <a:r>
              <a:rPr sz="1800" b="0">
                <a:solidFill>
                  <a:srgbClr val="F2F6FF"/>
                </a:solidFill>
                <a:latin typeface="Segoe UI"/>
              </a:rPr>
              <a:t> through geometric calibration.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F2F6FF"/>
                </a:solidFill>
                <a:latin typeface="Segoe UI"/>
              </a:rPr>
              <a:t>Issues an </a:t>
            </a:r>
            <a:r>
              <a:rPr sz="1800" b="1">
                <a:solidFill>
                  <a:srgbClr val="F2F6FF"/>
                </a:solidFill>
                <a:latin typeface="Segoe UI"/>
              </a:rPr>
              <a:t>e-challan with stamped photographic evidence</a:t>
            </a:r>
            <a:r>
              <a:rPr sz="1800" b="0">
                <a:solidFill>
                  <a:srgbClr val="F2F6FF"/>
                </a:solidFill>
                <a:latin typeface="Segoe UI"/>
              </a:rPr>
              <a:t>, delivered to the police automatically.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Camera  -&gt;  YOLOv8s  -&gt;  ByteTrack  -&gt;  Homography  -&gt;  Violation engine  -&gt;  ANPR  -&gt;  e-Challan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Nine violations, one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67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No Helmet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011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267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Triple Riding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2011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267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Over Speeding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10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Red Light Jump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3154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10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Wrong Way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154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410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No Seatbelt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97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53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Mobile Phone 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4297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4553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Illegal Parking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297680"/>
            <a:ext cx="3383280" cy="91440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55371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Driver Fatigue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FB3D1"/>
                </a:solidFill>
                <a:latin typeface="Segoe UI"/>
              </a:rPr>
              <a:t>Plus ANPR on every tracked vehicle, building a searchable enforcement 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VERIFIED SYSTEM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Proof: over-speeding</a:t>
            </a:r>
          </a:p>
        </p:txBody>
      </p:sp>
      <p:pic>
        <p:nvPicPr>
          <p:cNvPr id="5" name="Picture 4" descr="01_over_speeding_evidence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5720" y="1783080"/>
            <a:ext cx="699008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978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FB3D1"/>
                </a:solidFill>
                <a:latin typeface="Segoe UI"/>
              </a:rPr>
              <a:t>134.0 km/h in a 60 zone - vehicle boxed, plate zoomed, proof stamped onto the image. </a:t>
            </a:r>
            <a:r>
              <a:rPr sz="1400" b="1">
                <a:solidFill>
                  <a:srgbClr val="9FB3D1"/>
                </a:solidFill>
                <a:latin typeface="Segoe UI"/>
              </a:rPr>
              <a:t>7 events</a:t>
            </a:r>
            <a:r>
              <a:rPr sz="1400" b="0">
                <a:solidFill>
                  <a:srgbClr val="9FB3D1"/>
                </a:solidFill>
                <a:latin typeface="Segoe UI"/>
              </a:rPr>
              <a:t> measured at </a:t>
            </a:r>
            <a:r>
              <a:rPr sz="1400" b="1">
                <a:solidFill>
                  <a:srgbClr val="9FB3D1"/>
                </a:solidFill>
                <a:latin typeface="Segoe UI"/>
              </a:rPr>
              <a:t>83-163 km/h</a:t>
            </a:r>
            <a:r>
              <a:rPr sz="1400" b="0">
                <a:solidFill>
                  <a:srgbClr val="9FB3D1"/>
                </a:solidFill>
                <a:latin typeface="Segoe UI"/>
              </a:rPr>
              <a:t> across two cameras.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VERIFIED SYSTEM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Proof: helmet and triple riding</a:t>
            </a:r>
          </a:p>
        </p:txBody>
      </p:sp>
      <p:pic>
        <p:nvPicPr>
          <p:cNvPr id="5" name="Picture 4" descr="07_image_upload_triple_helm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20" y="1783080"/>
            <a:ext cx="589788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978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FB3D1"/>
                </a:solidFill>
                <a:latin typeface="Segoe UI"/>
              </a:rPr>
              <a:t>Both violations detected from a </a:t>
            </a:r>
            <a:r>
              <a:rPr sz="1400" b="1">
                <a:solidFill>
                  <a:srgbClr val="9FB3D1"/>
                </a:solidFill>
                <a:latin typeface="Segoe UI"/>
              </a:rPr>
              <a:t>single uploaded photograph</a:t>
            </a:r>
            <a:r>
              <a:rPr sz="1400" b="0">
                <a:solidFill>
                  <a:srgbClr val="9FB3D1"/>
                </a:solidFill>
                <a:latin typeface="Segoe UI"/>
              </a:rPr>
              <a:t>, producing </a:t>
            </a:r>
            <a:r>
              <a:rPr sz="1400" b="1">
                <a:solidFill>
                  <a:srgbClr val="9FB3D1"/>
                </a:solidFill>
                <a:latin typeface="Segoe UI"/>
              </a:rPr>
              <a:t>two separate challans</a:t>
            </a:r>
            <a:r>
              <a:rPr sz="1400" b="0">
                <a:solidFill>
                  <a:srgbClr val="9FB3D1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VERIFIED SYSTEM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Proof: number-plate recognition</a:t>
            </a:r>
          </a:p>
        </p:txBody>
      </p:sp>
      <p:pic>
        <p:nvPicPr>
          <p:cNvPr id="5" name="Picture 4" descr="05_anpr_sri_lanka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480" y="1783080"/>
            <a:ext cx="524256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978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FB3D1"/>
                </a:solidFill>
                <a:latin typeface="Segoe UI"/>
              </a:rPr>
              <a:t>Live Sri Lankan road: 18 vehicles tracked, plate </a:t>
            </a:r>
            <a:r>
              <a:rPr sz="1400" b="1">
                <a:solidFill>
                  <a:srgbClr val="9FB3D1"/>
                </a:solidFill>
                <a:latin typeface="Segoe UI"/>
              </a:rPr>
              <a:t>AAG 4002</a:t>
            </a:r>
            <a:r>
              <a:rPr sz="1400" b="0">
                <a:solidFill>
                  <a:srgbClr val="9FB3D1"/>
                </a:solidFill>
                <a:latin typeface="Segoe UI"/>
              </a:rPr>
              <a:t> read and confirmed. A plate counts only when </a:t>
            </a:r>
            <a:r>
              <a:rPr sz="1400" b="1">
                <a:solidFill>
                  <a:srgbClr val="9FB3D1"/>
                </a:solidFill>
                <a:latin typeface="Segoe UI"/>
              </a:rPr>
              <a:t>three separate reads agree</a:t>
            </a:r>
            <a:r>
              <a:rPr sz="1400" b="0">
                <a:solidFill>
                  <a:srgbClr val="9FB3D1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INNOVATION AND UNIQUENESS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What makes it different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Typical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Single purpose - a speed camera, or a plate reader.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Report a number with no proof attached.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Demo well, then fail on real roads with false positives.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Need dedicated hardware at each site.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Nine rules in one pipeline</a:t>
            </a:r>
            <a:r>
              <a:rPr sz="1350" b="0">
                <a:solidFill>
                  <a:srgbClr val="F2F6FF"/>
                </a:solidFill>
                <a:latin typeface="Segoe UI"/>
              </a:rPr>
              <a:t>, on any camera.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Evidence-first</a:t>
            </a:r>
            <a:r>
              <a:rPr sz="1350" b="0">
                <a:solidFill>
                  <a:srgbClr val="F2F6FF"/>
                </a:solidFill>
                <a:latin typeface="Segoe UI"/>
              </a:rPr>
              <a:t>: every fine carries a stamped photo and plate crop.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Engineered to refuse</a:t>
            </a:r>
            <a:r>
              <a:rPr sz="1350" b="0">
                <a:solidFill>
                  <a:srgbClr val="F2F6FF"/>
                </a:solidFill>
                <a:latin typeface="Segoe UI"/>
              </a:rPr>
              <a:t> - it reports only what it can prove.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Runs on cameras that already exist</a:t>
            </a:r>
            <a:r>
              <a:rPr sz="1350" b="0">
                <a:solidFill>
                  <a:srgbClr val="F2F6FF"/>
                </a:solidFill>
                <a:latin typeface="Segoe UI"/>
              </a:rPr>
              <a:t>, on a laptop CPU.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THE REAL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Why it can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Parked vehicles are never fined</a:t>
            </a:r>
            <a:r>
              <a:rPr sz="1700" b="0">
                <a:solidFill>
                  <a:srgbClr val="F2F6FF"/>
                </a:solidFill>
                <a:latin typeface="Segoe UI"/>
              </a:rPr>
              <a:t> - 41 vehicles, 0 violations on a parked-motorcycle clip.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Unreadable plates say UNREADABLE</a:t>
            </a:r>
            <a:r>
              <a:rPr sz="1700" b="0">
                <a:solidFill>
                  <a:srgbClr val="F2F6FF"/>
                </a:solidFill>
                <a:latin typeface="Segoe UI"/>
              </a:rPr>
              <a:t> - a number is never invented.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No calibration means no speed shown</a:t>
            </a:r>
            <a:r>
              <a:rPr sz="1700" b="0">
                <a:solidFill>
                  <a:srgbClr val="F2F6FF"/>
                </a:solidFill>
                <a:latin typeface="Segoe UI"/>
              </a:rPr>
              <a:t>, rather than a misleading guess.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A violation must persist across frames</a:t>
            </a:r>
            <a:r>
              <a:rPr sz="1700" b="0">
                <a:solidFill>
                  <a:srgbClr val="F2F6FF"/>
                </a:solidFill>
                <a:latin typeface="Segoe UI"/>
              </a:rPr>
              <a:t> - one-frame anomalies rejected.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2F6FF"/>
                </a:solidFill>
                <a:latin typeface="Segoe UI"/>
              </a:rPr>
              <a:t>No mock data exists</a:t>
            </a:r>
            <a:r>
              <a:rPr sz="1700" b="0">
                <a:solidFill>
                  <a:srgbClr val="F2F6FF"/>
                </a:solidFill>
                <a:latin typeface="Segoe UI"/>
              </a:rPr>
              <a:t> anywhere in the product.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74920"/>
            <a:ext cx="3291840" cy="1234440"/>
          </a:xfrm>
          <a:prstGeom prst="rect">
            <a:avLst/>
          </a:prstGeom>
          <a:solidFill>
            <a:srgbClr val="111E3D"/>
          </a:solidFill>
          <a:ln>
            <a:solidFill>
              <a:srgbClr val="294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20293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C74D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881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FB3D1"/>
                </a:solidFill>
                <a:latin typeface="Segoe UI"/>
              </a:rPr>
              <a:t>false-positive defects found and fixed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5074920"/>
            <a:ext cx="3291840" cy="1234440"/>
          </a:xfrm>
          <a:prstGeom prst="rect">
            <a:avLst/>
          </a:prstGeom>
          <a:solidFill>
            <a:srgbClr val="111E3D"/>
          </a:solidFill>
          <a:ln>
            <a:solidFill>
              <a:srgbClr val="294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520293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4ADE80"/>
                </a:solidFill>
                <a:latin typeface="Segoe UI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7881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FB3D1"/>
                </a:solidFill>
                <a:latin typeface="Segoe UI"/>
              </a:rPr>
              <a:t>automated tests passing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074920"/>
            <a:ext cx="3291840" cy="1234440"/>
          </a:xfrm>
          <a:prstGeom prst="rect">
            <a:avLst/>
          </a:prstGeom>
          <a:solidFill>
            <a:srgbClr val="111E3D"/>
          </a:solidFill>
          <a:ln>
            <a:solidFill>
              <a:srgbClr val="294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20293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2D3EE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7881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FB3D1"/>
                </a:solidFill>
                <a:latin typeface="Segoe UI"/>
              </a:rPr>
              <a:t>violations on parked bikes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ENGINEERING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Found by testing on real roads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F6FF"/>
                </a:solidFill>
                <a:latin typeface="Segoe UI"/>
              </a:rPr>
              <a:t>Moving vehicles fined for parking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874519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3D1"/>
                </a:solidFill>
                <a:latin typeface="Segoe UI"/>
              </a:rPr>
              <a:t>Motion gate misjudged 89% of moving vehicles as stationary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F6FF"/>
                </a:solidFill>
                <a:latin typeface="Segoe UI"/>
              </a:rPr>
              <a:t>Helmeted riders accused of no helmet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74320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3D1"/>
                </a:solidFill>
                <a:latin typeface="Segoe UI"/>
              </a:rPr>
              <a:t>Helmet crop was catching neighbouring 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7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F6FF"/>
                </a:solidFill>
                <a:latin typeface="Segoe UI"/>
              </a:rPr>
              <a:t>Bare heads marked compliant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611879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3D1"/>
                </a:solidFill>
                <a:latin typeface="Segoe UI"/>
              </a:rPr>
              <a:t>Compliance threshold was lower than the accusation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5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F6FF"/>
                </a:solidFill>
                <a:latin typeface="Segoe UI"/>
              </a:rPr>
              <a:t>Stopped car fined for a red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59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3D1"/>
                </a:solidFill>
                <a:latin typeface="Segoe UI"/>
              </a:rPr>
              <a:t>A signal from a different approach was applied to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49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F6FF"/>
                </a:solidFill>
                <a:latin typeface="Segoe UI"/>
              </a:rPr>
              <a:t>Wrong plate numbers on challans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34924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FB3D1"/>
                </a:solidFill>
                <a:latin typeface="Segoe UI"/>
              </a:rPr>
              <a:t>Two agreeing OCR reads could both be wrong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636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We fixed cases where our own system accused the wrong person. Each is now a test.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TARGET USERS 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Who it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Primary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Sri Lanka Police traffic division</a:t>
            </a:r>
            <a:r>
              <a:rPr sz="1350" b="0">
                <a:solidFill>
                  <a:srgbClr val="F2F6FF"/>
                </a:solidFill>
                <a:latin typeface="Segoe UI"/>
              </a:rPr>
              <a:t> - automated enforcement on existing junction cameras.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Road Development Authority / municipal councils</a:t>
            </a:r>
            <a:r>
              <a:rPr sz="1350" b="0">
                <a:solidFill>
                  <a:srgbClr val="F2F6FF"/>
                </a:solidFill>
                <a:latin typeface="Segoe UI"/>
              </a:rPr>
              <a:t> - highway corridors, school and hospital zones.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Commercial fleet operators</a:t>
            </a:r>
            <a:r>
              <a:rPr sz="1350" b="0">
                <a:solidFill>
                  <a:srgbClr val="F2F6FF"/>
                </a:solidFill>
                <a:latin typeface="Segoe UI"/>
              </a:rPr>
              <a:t> - seatbelt and driver-fatigue compliance for buses and lorries.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Why they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Enforcement reach without hiring proportionally more officers.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Evidence that survives dispute, so fines are actually collected.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Data on where violations concentrate, to target scarce resources.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Fleet operators reduce insurance exposure and liability.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C74D"/>
                </a:solidFill>
                <a:latin typeface="Segoe UI"/>
              </a:rPr>
              <a:t>Entry point: a single pilot junction. Expansion: corridor, then city.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HOW IT SUSTAINS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Business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07040" cy="86868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385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2D3EE"/>
                </a:solidFill>
                <a:latin typeface="Segoe UI"/>
              </a:rPr>
              <a:t>Pilot deployment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956816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One-off setup and calibration per camera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880360"/>
            <a:ext cx="10607040" cy="86868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900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2D3EE"/>
                </a:solidFill>
                <a:latin typeface="Segoe UI"/>
              </a:rPr>
              <a:t>Annual software licence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008376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Per-camera subscription covering updates and model improvements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10607040" cy="86868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0416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2D3EE"/>
                </a:solidFill>
                <a:latin typeface="Segoe UI"/>
              </a:rPr>
              <a:t>Support and analytics 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059936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Dashboards, reporting and repeat-offender analytics for authorities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983479"/>
            <a:ext cx="10607040" cy="86868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093207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22D3EE"/>
                </a:solidFill>
                <a:latin typeface="Segoe UI"/>
              </a:rPr>
              <a:t>Fleet compliance package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111495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Per-vehicle monitoring sold to commercial 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72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74D"/>
                </a:solidFill>
                <a:latin typeface="Segoe UI"/>
              </a:rPr>
              <a:t>Cost advantage: no new cameras and no per-site hardware, so a pilot is software and calibration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ECONOMIC, SOCIAL, ENVIRONMENTAL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Sustainability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Economically self-sustaining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Runs on </a:t>
            </a:r>
            <a:r>
              <a:rPr sz="1350" b="1">
                <a:solidFill>
                  <a:srgbClr val="F2F6FF"/>
                </a:solidFill>
                <a:latin typeface="Segoe UI"/>
              </a:rPr>
              <a:t>infrastructure already paid for</a:t>
            </a:r>
            <a:r>
              <a:rPr sz="1350" b="0">
                <a:solidFill>
                  <a:srgbClr val="F2F6FF"/>
                </a:solidFill>
                <a:latin typeface="Segoe UI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One laptop starts a pilot; no civil works, no gantries.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F2F6FF"/>
                </a:solidFill>
                <a:latin typeface="Segoe UI"/>
              </a:rPr>
              <a:t>Recovered fines fund expansion without new capital.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828800"/>
            <a:ext cx="5212080" cy="3931920"/>
          </a:xfrm>
          <a:prstGeom prst="rect">
            <a:avLst/>
          </a:prstGeom>
          <a:solidFill>
            <a:srgbClr val="111E3D"/>
          </a:solidFill>
          <a:ln>
            <a:solidFill>
              <a:srgbClr val="0B14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20299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Socially and environmentally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Fairness</a:t>
            </a:r>
            <a:r>
              <a:rPr sz="1350" b="0">
                <a:solidFill>
                  <a:srgbClr val="F2F6FF"/>
                </a:solidFill>
                <a:latin typeface="Segoe UI"/>
              </a:rPr>
              <a:t>: identical rules for every driver, no discretion.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Fewer deaths</a:t>
            </a:r>
            <a:r>
              <a:rPr sz="1350" b="0">
                <a:solidFill>
                  <a:srgbClr val="F2F6FF"/>
                </a:solidFill>
                <a:latin typeface="Segoe UI"/>
              </a:rPr>
              <a:t> through deterrence, not punishment.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Lower emissions</a:t>
            </a:r>
            <a:r>
              <a:rPr sz="1350" b="0">
                <a:solidFill>
                  <a:srgbClr val="F2F6FF"/>
                </a:solidFill>
                <a:latin typeface="Segoe UI"/>
              </a:rPr>
              <a:t> - smoother traffic and fewer crash-related jams.</a:t>
            </a:r>
          </a:p>
          <a:p>
            <a:pPr algn="l">
              <a:spcAft>
                <a:spcPts val="1000"/>
              </a:spcAft>
            </a:pPr>
            <a:r>
              <a:rPr sz="1350" b="1">
                <a:solidFill>
                  <a:srgbClr val="F2F6FF"/>
                </a:solidFill>
                <a:latin typeface="Segoe UI"/>
              </a:rPr>
              <a:t>Privacy-respecting</a:t>
            </a:r>
            <a:r>
              <a:rPr sz="1350" b="0">
                <a:solidFill>
                  <a:srgbClr val="F2F6FF"/>
                </a:solidFill>
                <a:latin typeface="Segoe UI"/>
              </a:rPr>
              <a:t>: plates confirmed three times or marked unreadable; no identity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PRACTICAL AND MODULAR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F2F6FF"/>
                </a:solidFill>
                <a:latin typeface="Segoe UI"/>
              </a:rPr>
              <a:t>Works with </a:t>
            </a:r>
            <a:r>
              <a:rPr sz="1700" b="1">
                <a:solidFill>
                  <a:srgbClr val="F2F6FF"/>
                </a:solidFill>
                <a:latin typeface="Segoe UI"/>
              </a:rPr>
              <a:t>existing CCTV</a:t>
            </a:r>
            <a:r>
              <a:rPr sz="1700" b="0">
                <a:solidFill>
                  <a:srgbClr val="F2F6FF"/>
                </a:solidFill>
                <a:latin typeface="Segoe UI"/>
              </a:rPr>
              <a:t>, a phone stream, or a drone via OBS.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F2F6FF"/>
                </a:solidFill>
                <a:latin typeface="Segoe UI"/>
              </a:rPr>
              <a:t>A pilot site runs on a </a:t>
            </a:r>
            <a:r>
              <a:rPr sz="1700" b="1">
                <a:solidFill>
                  <a:srgbClr val="F2F6FF"/>
                </a:solidFill>
                <a:latin typeface="Segoe UI"/>
              </a:rPr>
              <a:t>single laptop</a:t>
            </a:r>
            <a:r>
              <a:rPr sz="1700" b="0">
                <a:solidFill>
                  <a:srgbClr val="F2F6FF"/>
                </a:solidFill>
                <a:latin typeface="Segoe UI"/>
              </a:rPr>
              <a:t>; cities use GPU edge boxes.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F2F6FF"/>
                </a:solidFill>
                <a:latin typeface="Segoe UI"/>
              </a:rPr>
              <a:t>Helmet, seatbelt, plate and three-wheeler models are </a:t>
            </a:r>
            <a:r>
              <a:rPr sz="1700" b="1">
                <a:solidFill>
                  <a:srgbClr val="F2F6FF"/>
                </a:solidFill>
                <a:latin typeface="Segoe UI"/>
              </a:rPr>
              <a:t>drop-in files</a:t>
            </a:r>
            <a:r>
              <a:rPr sz="1700" b="0">
                <a:solidFill>
                  <a:srgbClr val="F2F6FF"/>
                </a:solidFill>
                <a:latin typeface="Segoe UI"/>
              </a:rPr>
              <a:t> - no code change.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F2F6FF"/>
                </a:solidFill>
                <a:latin typeface="Segoe UI"/>
              </a:rPr>
              <a:t>Python, FastAPI, YOLOv8, ByteTrack, OpenCV, EasyOCR, SQLite.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F2F6FF"/>
                </a:solidFill>
                <a:latin typeface="Segoe UI"/>
              </a:rPr>
              <a:t>Dashboard is a </a:t>
            </a:r>
            <a:r>
              <a:rPr sz="1700" b="1">
                <a:solidFill>
                  <a:srgbClr val="F2F6FF"/>
                </a:solidFill>
                <a:latin typeface="Segoe UI"/>
              </a:rPr>
              <a:t>single self-contained HTML file</a:t>
            </a:r>
            <a:r>
              <a:rPr sz="1700" b="0">
                <a:solidFill>
                  <a:srgbClr val="F2F6FF"/>
                </a:solidFill>
                <a:latin typeface="Segoe UI"/>
              </a:rPr>
              <a:t>, no external dependencies.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Segoe U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6FF"/>
                </a:solidFill>
                <a:latin typeface="Segoe UI"/>
              </a:rPr>
              <a:t>Scalability and future plans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C74D"/>
                </a:solidFill>
                <a:latin typeface="Segoe UI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9202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F2F6FF"/>
                </a:solidFill>
                <a:latin typeface="Segoe UI"/>
              </a:rPr>
              <a:t>Working system, 79 tests, verified on real Sri Lankan road footage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C74D"/>
                </a:solidFill>
                <a:latin typeface="Segoe UI"/>
              </a:rPr>
              <a:t>Next 3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97180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F2F6FF"/>
                </a:solidFill>
                <a:latin typeface="Segoe UI"/>
              </a:rPr>
              <a:t>Live pilot at one signalised junction with police partnership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C74D"/>
                </a:solidFill>
                <a:latin typeface="Segoe UI"/>
              </a:rPr>
              <a:t>6-12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02336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F2F6FF"/>
                </a:solidFill>
                <a:latin typeface="Segoe UI"/>
              </a:rPr>
              <a:t>Corridor deployment; night and adverse-weather models; trained three-wheeler class for local traffic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C74D"/>
                </a:solidFill>
                <a:latin typeface="Segoe UI"/>
              </a:rPr>
              <a:t>Beyond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07492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F2F6FF"/>
                </a:solidFill>
                <a:latin typeface="Segoe UI"/>
              </a:rPr>
              <a:t>City-wide multi-camera dashboard; vision-language models for ambiguous cases; export to comparable South Asian markets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179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Each camera added is software only - marginal cost falls as coverage grows.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2F6FF"/>
                </a:solidFill>
                <a:latin typeface="Segoe UI"/>
              </a:rPr>
              <a:t>Safer roads, proven by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D3EE"/>
                </a:solidFill>
                <a:latin typeface="Segoe UI"/>
              </a:rPr>
              <a:t>Nine violation types. Real speed. Verified plates. Automatic challans.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C74D"/>
                </a:solidFill>
                <a:latin typeface="Segoe UI"/>
              </a:rPr>
              <a:t>On cameras this country already owns.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FB3D1"/>
                </a:solidFill>
                <a:latin typeface="Segoe UI"/>
              </a:rPr>
              <a:t>Team Three Hacks  |  github.com/Jeba-Jebarsan/AI-SMART-TRAFFIC-INTELLIGENCE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