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F172A"/>
                </a:solidFill>
                <a:latin typeface="Segoe UI"/>
              </a:rPr>
              <a:t>AI Smart Traffic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E7490"/>
                </a:solidFill>
                <a:latin typeface="Segoe UI"/>
              </a:rPr>
              <a:t>Turning any camera feed into fair, evidence-based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84"/>
                </a:solidFill>
                <a:latin typeface="Segoe UI"/>
              </a:rPr>
              <a:t>Team Three Hacks  |  Startup Innovation Competition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892040"/>
            <a:ext cx="2651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violation types live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4892040"/>
            <a:ext cx="2651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892040"/>
            <a:ext cx="2651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02005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83-163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6052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km/h speed verified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Every day, people die on roads a camera was watching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Sri Lanka records roughly </a:t>
            </a:r>
            <a:r>
              <a:rPr sz="1850" b="1">
                <a:solidFill>
                  <a:srgbClr val="0F172A"/>
                </a:solidFill>
                <a:latin typeface="Segoe UI"/>
              </a:rPr>
              <a:t>3,000 road deaths a year</a:t>
            </a:r>
            <a:r>
              <a:rPr sz="1850" b="0">
                <a:solidFill>
                  <a:srgbClr val="0F172A"/>
                </a:solidFill>
                <a:latin typeface="Segoe UI"/>
              </a:rPr>
              <a:t>, most of them from violations that are simple to see.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Officers cannot stand at every junction, 24 hours a day. Enforcement is limited by </a:t>
            </a:r>
            <a:r>
              <a:rPr sz="1850" b="1">
                <a:solidFill>
                  <a:srgbClr val="0F172A"/>
                </a:solidFill>
                <a:latin typeface="Segoe UI"/>
              </a:rPr>
              <a:t>how many people we can hire</a:t>
            </a:r>
            <a:r>
              <a:rPr sz="18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A fine written </a:t>
            </a:r>
            <a:r>
              <a:rPr sz="1850" b="1">
                <a:solidFill>
                  <a:srgbClr val="0F172A"/>
                </a:solidFill>
                <a:latin typeface="Segoe UI"/>
              </a:rPr>
              <a:t>without a photo and a verified plate</a:t>
            </a:r>
            <a:r>
              <a:rPr sz="1850" b="0">
                <a:solidFill>
                  <a:srgbClr val="0F172A"/>
                </a:solidFill>
                <a:latin typeface="Segoe UI"/>
              </a:rPr>
              <a:t> is argued about, and often never paid.</a:t>
            </a:r>
          </a:p>
          <a:p>
            <a:pPr algn="l">
              <a:spcAft>
                <a:spcPts val="1400"/>
              </a:spcAft>
            </a:pPr>
            <a:r>
              <a:rPr sz="1850" b="0">
                <a:solidFill>
                  <a:srgbClr val="0F172A"/>
                </a:solidFill>
                <a:latin typeface="Segoe UI"/>
              </a:rPr>
              <a:t>Nothing is recorded in a searchable way, so </a:t>
            </a:r>
            <a:r>
              <a:rPr sz="1850" b="1">
                <a:solidFill>
                  <a:srgbClr val="0F172A"/>
                </a:solidFill>
                <a:latin typeface="Segoe UI"/>
              </a:rPr>
              <a:t>repeat offenders stay invisible</a:t>
            </a:r>
            <a:r>
              <a:rPr sz="1850" b="0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45309"/>
                </a:solidFill>
                <a:latin typeface="Segoe UI"/>
              </a:rPr>
              <a:t>The gap is not cameras. The gap is coverage and proof.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What already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Colombo alone has </a:t>
            </a:r>
            <a:r>
              <a:rPr sz="1350" b="1">
                <a:solidFill>
                  <a:srgbClr val="0F172A"/>
                </a:solidFill>
                <a:latin typeface="Segoe UI"/>
              </a:rPr>
              <a:t>over 100 road cameras</a:t>
            </a:r>
            <a:r>
              <a:rPr sz="1350" b="0">
                <a:solidFill>
                  <a:srgbClr val="0F172A"/>
                </a:solidFill>
                <a:latin typeface="Segoe UI"/>
              </a:rPr>
              <a:t> already installed.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Police already issue spot fines - the </a:t>
            </a:r>
            <a:r>
              <a:rPr sz="1350" b="1">
                <a:solidFill>
                  <a:srgbClr val="0F172A"/>
                </a:solidFill>
                <a:latin typeface="Segoe UI"/>
              </a:rPr>
              <a:t>legal framework is in place</a:t>
            </a:r>
            <a:r>
              <a:rPr sz="13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Phones and drones make any road coverable today, with no civil works.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What is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Those cameras are </a:t>
            </a:r>
            <a:r>
              <a:rPr sz="1350" b="1">
                <a:solidFill>
                  <a:srgbClr val="0F172A"/>
                </a:solidFill>
                <a:latin typeface="Segoe UI"/>
              </a:rPr>
              <a:t>watched by a person, or by nobody at all</a:t>
            </a:r>
            <a:r>
              <a:rPr sz="13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There is no automatic path from camera to challan to payment.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Enforcement grows with headcount, not with technology.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We do not need new cameras. We need intelligence behind the ones already there.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One AI pipeline on an ordinary camera that judges </a:t>
            </a:r>
            <a:r>
              <a:rPr sz="1800" b="1">
                <a:solidFill>
                  <a:srgbClr val="0F172A"/>
                </a:solidFill>
                <a:latin typeface="Segoe UI"/>
              </a:rPr>
              <a:t>traffic violations of any kind we teach it</a:t>
            </a:r>
            <a:r>
              <a:rPr sz="180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Reads </a:t>
            </a:r>
            <a:r>
              <a:rPr sz="1800" b="1">
                <a:solidFill>
                  <a:srgbClr val="0F172A"/>
                </a:solidFill>
                <a:latin typeface="Segoe UI"/>
              </a:rPr>
              <a:t>number plates on every vehicle</a:t>
            </a:r>
            <a:r>
              <a:rPr sz="1800" b="0">
                <a:solidFill>
                  <a:srgbClr val="0F172A"/>
                </a:solidFill>
                <a:latin typeface="Segoe UI"/>
              </a:rPr>
              <a:t>, not only on offenders.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Measures </a:t>
            </a:r>
            <a:r>
              <a:rPr sz="1800" b="1">
                <a:solidFill>
                  <a:srgbClr val="0F172A"/>
                </a:solidFill>
                <a:latin typeface="Segoe UI"/>
              </a:rPr>
              <a:t>real road speed</a:t>
            </a:r>
            <a:r>
              <a:rPr sz="1800" b="0">
                <a:solidFill>
                  <a:srgbClr val="0F172A"/>
                </a:solidFill>
                <a:latin typeface="Segoe UI"/>
              </a:rPr>
              <a:t> using surveyed road geometry.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0F172A"/>
                </a:solidFill>
                <a:latin typeface="Segoe UI"/>
              </a:rPr>
              <a:t>Issues an </a:t>
            </a:r>
            <a:r>
              <a:rPr sz="1800" b="1">
                <a:solidFill>
                  <a:srgbClr val="0F172A"/>
                </a:solidFill>
                <a:latin typeface="Segoe UI"/>
              </a:rPr>
              <a:t>e-challan with stamped photographic evidence</a:t>
            </a:r>
            <a:r>
              <a:rPr sz="1800" b="0">
                <a:solidFill>
                  <a:srgbClr val="0F172A"/>
                </a:solidFill>
                <a:latin typeface="Segoe UI"/>
              </a:rPr>
              <a:t>, sent to the police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Camera  -&gt;  YOLOv8s  -&gt;  ByteTrack  -&gt;  Homography  -&gt;  Violation engine  -&gt;  ANPR  -&gt;  e-Challan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Runs on a single laptop CPU. No new hardware to install.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it works, in six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YOLOv8s finds vehicles, riders, helmets and plates in each 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96596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1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1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Follow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1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ByteTrack gives every vehicle an identity it keeps across frames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96596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1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1" y="2423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86207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Four surveyed road corners turn pixels into real metres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93192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Judge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The rule engine runs, each rule behind motion and persistence gates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393192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1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6591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Identify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1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OCR reads the plate; three agreeing reads confirm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3931920"/>
            <a:ext cx="3429000" cy="1691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1" y="405993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1" y="43891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4828032"/>
            <a:ext cx="2971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An e-challan with photo evidence is generated and emailed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Every step runs live. Nothing is pre-recorded and nothing is faked.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CAPABILITY AND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A rule engine, not a fixed feature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B84"/>
                </a:solidFill>
                <a:latin typeface="Segoe UI"/>
              </a:rPr>
              <a:t>Nine rules are live today. Each is a small module over the same detection and tracking core, so the tenth is days of work, not a new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No Helmet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286000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Triple Riding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286000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Over Speeding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18688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98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Red Light Jump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218688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34198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Wrong 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218688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41985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No Seatbelt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51376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525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Mobile Phone Use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4151376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43525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Illegal Parking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151376"/>
            <a:ext cx="3383280" cy="777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35254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Driver Fatigue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5B6B84"/>
                </a:solidFill>
                <a:latin typeface="Segoe UI"/>
              </a:rPr>
              <a:t>Already asked for and straightforward to add:</a:t>
            </a:r>
            <a:r>
              <a:rPr sz="1350" b="0">
                <a:solidFill>
                  <a:srgbClr val="5B6B84"/>
                </a:solidFill>
                <a:latin typeface="Segoe UI"/>
              </a:rPr>
              <a:t> lane discipline, unauthorised bus-lane use, overloaded three-wheelers, number-plate obscuring, pedestrian-crossing blocking.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Plus ANPR on </a:t>
            </a:r>
            <a:r>
              <a:rPr sz="1350" b="1">
                <a:solidFill>
                  <a:srgbClr val="5B6B84"/>
                </a:solidFill>
                <a:latin typeface="Segoe UI"/>
              </a:rPr>
              <a:t>every</a:t>
            </a:r>
            <a:r>
              <a:rPr sz="1350" b="0">
                <a:solidFill>
                  <a:srgbClr val="5B6B84"/>
                </a:solidFill>
                <a:latin typeface="Segoe UI"/>
              </a:rPr>
              <a:t> tracked vehicle, building a searchable enforcement log underneath all of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VERIFIED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over-speeding</a:t>
            </a:r>
          </a:p>
        </p:txBody>
      </p:sp>
      <p:pic>
        <p:nvPicPr>
          <p:cNvPr id="5" name="Picture 4" descr="01_over_speeding_evidenc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134.0 km/h in a 60 zone - vehicle boxed, plate zoomed, proof stamped onto the image. </a:t>
            </a:r>
            <a:r>
              <a:rPr sz="1400" b="1">
                <a:solidFill>
                  <a:srgbClr val="5B6B84"/>
                </a:solidFill>
                <a:latin typeface="Segoe UI"/>
              </a:rPr>
              <a:t>7 events</a:t>
            </a:r>
            <a:r>
              <a:rPr sz="1400" b="0">
                <a:solidFill>
                  <a:srgbClr val="5B6B84"/>
                </a:solidFill>
                <a:latin typeface="Segoe UI"/>
              </a:rPr>
              <a:t> measured at </a:t>
            </a:r>
            <a:r>
              <a:rPr sz="1400" b="1">
                <a:solidFill>
                  <a:srgbClr val="5B6B84"/>
                </a:solidFill>
                <a:latin typeface="Segoe UI"/>
              </a:rPr>
              <a:t>83-163 km/h</a:t>
            </a:r>
            <a:r>
              <a:rPr sz="1400" b="0">
                <a:solidFill>
                  <a:srgbClr val="5B6B84"/>
                </a:solidFill>
                <a:latin typeface="Segoe UI"/>
              </a:rPr>
              <a:t> across two calibrated cameras.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THE NUMBER IS 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speed is measured, not guessed</a:t>
            </a:r>
          </a:p>
        </p:txBody>
      </p:sp>
      <p:pic>
        <p:nvPicPr>
          <p:cNvPr id="5" name="Picture 4" descr="09_highway_speed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783080"/>
            <a:ext cx="68275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We survey four road corners and map pixels to metres, then fit distance against time across many frames and reject outliers. Replay accuracy: </a:t>
            </a:r>
            <a:r>
              <a:rPr sz="1400" b="1">
                <a:solidFill>
                  <a:srgbClr val="5B6B84"/>
                </a:solidFill>
                <a:latin typeface="Segoe UI"/>
              </a:rPr>
              <a:t>0.99-1.01x true speed</a:t>
            </a:r>
            <a:r>
              <a:rPr sz="1400" b="0">
                <a:solidFill>
                  <a:srgbClr val="5B6B84"/>
                </a:solidFill>
                <a:latin typeface="Segoe UI"/>
              </a:rPr>
              <a:t>. An uncalibrated camera shows </a:t>
            </a:r>
            <a:r>
              <a:rPr sz="1400" b="1">
                <a:solidFill>
                  <a:srgbClr val="5B6B84"/>
                </a:solidFill>
                <a:latin typeface="Segoe UI"/>
              </a:rPr>
              <a:t>no speed at all</a:t>
            </a:r>
            <a:r>
              <a:rPr sz="1400" b="0">
                <a:solidFill>
                  <a:srgbClr val="5B6B8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VERIFIED SYSTEM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helmet and triple riding</a:t>
            </a:r>
          </a:p>
        </p:txBody>
      </p:sp>
      <p:pic>
        <p:nvPicPr>
          <p:cNvPr id="5" name="Picture 4" descr="07_image_upload_triple_helm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783080"/>
            <a:ext cx="576072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Both violations detected from a </a:t>
            </a:r>
            <a:r>
              <a:rPr sz="1400" b="1">
                <a:solidFill>
                  <a:srgbClr val="5B6B84"/>
                </a:solidFill>
                <a:latin typeface="Segoe UI"/>
              </a:rPr>
              <a:t>single photograph</a:t>
            </a:r>
            <a:r>
              <a:rPr sz="1400" b="0">
                <a:solidFill>
                  <a:srgbClr val="5B6B84"/>
                </a:solidFill>
                <a:latin typeface="Segoe UI"/>
              </a:rPr>
              <a:t>, producing </a:t>
            </a:r>
            <a:r>
              <a:rPr sz="1400" b="1">
                <a:solidFill>
                  <a:srgbClr val="5B6B84"/>
                </a:solidFill>
                <a:latin typeface="Segoe UI"/>
              </a:rPr>
              <a:t>two separate challans</a:t>
            </a:r>
            <a:r>
              <a:rPr sz="1400" b="0">
                <a:solidFill>
                  <a:srgbClr val="5B6B84"/>
                </a:solidFill>
                <a:latin typeface="Segoe UI"/>
              </a:rPr>
              <a:t>. Riders are matched to their motorcycle geometrically, so a bystander on the pavement is never counted.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PRECISION, NOT JUST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the bystander is not counted</a:t>
            </a:r>
          </a:p>
        </p:txBody>
      </p:sp>
      <p:pic>
        <p:nvPicPr>
          <p:cNvPr id="5" name="Picture 4" descr="11_no_helmet_bysta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783080"/>
            <a:ext cx="216027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The rider is fined for no helmet. The person crouching beside the bike is </a:t>
            </a:r>
            <a:r>
              <a:rPr sz="1400" b="1">
                <a:solidFill>
                  <a:srgbClr val="5B6B84"/>
                </a:solidFill>
                <a:latin typeface="Segoe UI"/>
              </a:rPr>
              <a:t>not</a:t>
            </a:r>
            <a:r>
              <a:rPr sz="1400" b="0">
                <a:solidFill>
                  <a:srgbClr val="5B6B84"/>
                </a:solidFill>
                <a:latin typeface="Segoe UI"/>
              </a:rPr>
              <a:t> counted as a rider, and the scooter behind is not accused. </a:t>
            </a:r>
            <a:r>
              <a:rPr sz="1400" b="1">
                <a:solidFill>
                  <a:srgbClr val="5B6B84"/>
                </a:solidFill>
                <a:latin typeface="Segoe UI"/>
              </a:rPr>
              <a:t>Anyone can draw a box. Judging correctly is the hard part.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ANPR ON A REAL SRI LANKAN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Proof: number-plate recognition</a:t>
            </a:r>
          </a:p>
        </p:txBody>
      </p:sp>
      <p:pic>
        <p:nvPicPr>
          <p:cNvPr id="5" name="Picture 4" descr="05_anpr_sri_lanka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83080"/>
            <a:ext cx="5120640" cy="3840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806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150 vehicles tracked; plates </a:t>
            </a:r>
            <a:r>
              <a:rPr sz="1400" b="1">
                <a:solidFill>
                  <a:srgbClr val="5B6B84"/>
                </a:solidFill>
                <a:latin typeface="Segoe UI"/>
              </a:rPr>
              <a:t>AAG 4002</a:t>
            </a:r>
            <a:r>
              <a:rPr sz="1400" b="0">
                <a:solidFill>
                  <a:srgbClr val="5B6B84"/>
                </a:solidFill>
                <a:latin typeface="Segoe UI"/>
              </a:rPr>
              <a:t> and </a:t>
            </a:r>
            <a:r>
              <a:rPr sz="1400" b="1">
                <a:solidFill>
                  <a:srgbClr val="5B6B84"/>
                </a:solidFill>
                <a:latin typeface="Segoe UI"/>
              </a:rPr>
              <a:t>BBJ 8752</a:t>
            </a:r>
            <a:r>
              <a:rPr sz="1400" b="0">
                <a:solidFill>
                  <a:srgbClr val="5B6B84"/>
                </a:solidFill>
                <a:latin typeface="Segoe UI"/>
              </a:rPr>
              <a:t> read and confirmed. A plate is written to a challan only when </a:t>
            </a:r>
            <a:r>
              <a:rPr sz="1400" b="1">
                <a:solidFill>
                  <a:srgbClr val="5B6B84"/>
                </a:solidFill>
                <a:latin typeface="Segoe UI"/>
              </a:rPr>
              <a:t>three separate reads agree</a:t>
            </a:r>
            <a:r>
              <a:rPr sz="1400" b="0">
                <a:solidFill>
                  <a:srgbClr val="5B6B84"/>
                </a:solidFill>
                <a:latin typeface="Segoe UI"/>
              </a:rPr>
              <a:t> - otherwise it says UNREADABLE.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AN HONEST ENGINEERING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Every rule needs the right camera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Helmet, triple riding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874519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Any view where the rider is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874519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Demonstrated on real footage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Over speeding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77063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Four surveyed road corners, so pixels become metres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7063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Demonstrated - 83-163 km/h, two cameras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66744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Red light jump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66744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The stop line, and which signal head governs the 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66674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Fires once calibrated; never guessed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62856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Illegal parking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562856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A fixed camera, so stillness can be proven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62856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Needs a mounted camera, not hand-held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5896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No seatbelt, phone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458968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B6B84"/>
                </a:solidFill>
                <a:latin typeface="Segoe UI"/>
              </a:rPr>
              <a:t>A front view of the driver, close enough to 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4589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E7490"/>
                </a:solidFill>
                <a:latin typeface="Segoe UI"/>
              </a:rPr>
              <a:t>Fleet cameras have it; road CCTV does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Every rule is built and tested. We demonstrate only what our footage genuinely contains.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REAL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Why it can be trusted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Parked vehicles are never fined</a:t>
            </a:r>
            <a:r>
              <a:rPr sz="1700" b="0">
                <a:solidFill>
                  <a:srgbClr val="0F172A"/>
                </a:solidFill>
                <a:latin typeface="Segoe UI"/>
              </a:rPr>
              <a:t> - 41 vehicles, 0 violations on a parked-motorcycle clip.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Unreadable plates say UNREADABLE</a:t>
            </a:r>
            <a:r>
              <a:rPr sz="1700" b="0">
                <a:solidFill>
                  <a:srgbClr val="0F172A"/>
                </a:solidFill>
                <a:latin typeface="Segoe UI"/>
              </a:rPr>
              <a:t> - a number is never invented.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No calibration means no speed shown</a:t>
            </a:r>
            <a:r>
              <a:rPr sz="1700" b="0">
                <a:solidFill>
                  <a:srgbClr val="0F172A"/>
                </a:solidFill>
                <a:latin typeface="Segoe UI"/>
              </a:rPr>
              <a:t>, rather than a misleading guess.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A violation must persist across frames</a:t>
            </a:r>
            <a:r>
              <a:rPr sz="1700" b="0">
                <a:solidFill>
                  <a:srgbClr val="0F172A"/>
                </a:solidFill>
                <a:latin typeface="Segoe UI"/>
              </a:rPr>
              <a:t> - one-frame anomalies rejected.</a:t>
            </a:r>
          </a:p>
          <a:p>
            <a:pPr algn="l">
              <a:spcAft>
                <a:spcPts val="12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A model that cannot prove itself is switched off</a:t>
            </a:r>
            <a:r>
              <a:rPr sz="1700" b="0">
                <a:solidFill>
                  <a:srgbClr val="0F172A"/>
                </a:solidFill>
                <a:latin typeface="Segoe UI"/>
              </a:rPr>
              <a:t>, not trusted.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74920"/>
            <a:ext cx="32918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B45309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false-positive defects found and fixed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5074920"/>
            <a:ext cx="32918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15803D"/>
                </a:solidFill>
                <a:latin typeface="Segoe UI"/>
              </a:rPr>
              <a:t>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automated tests passing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5074920"/>
            <a:ext cx="32918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5202936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7881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violations on parked bikes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ENGINEERING 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Found by testing on real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Our own seatbelt model was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87451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It called a belted driver, and an empty road, 'no seatbelt'. We disabled the rule rather than ship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 stopped car fined for a red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74320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A signal from a different junction approach was applied to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1187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Helmeted riders accused of no helmet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61187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The helmet crop was catching neighbouring riders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A sleeping driver flagged as 'on phone'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480559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A marginal 0.36 detection on a dark steering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Speeds shown on uncalibrated cameras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34924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Meaningless numbers where no perspective calibration 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63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found these in our own system and fixed them. Each one is now an automated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INNOVATION AND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makes it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Typical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Single purpose - a speed camera, or a plate reader.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Report a number with no proof attached.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Demo well, then fail on real roads with false positives.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Need dedicated hardware installed at each site.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One engine, many rules</a:t>
            </a:r>
            <a:r>
              <a:rPr sz="1350" b="0">
                <a:solidFill>
                  <a:srgbClr val="0F172A"/>
                </a:solidFill>
                <a:latin typeface="Segoe UI"/>
              </a:rPr>
              <a:t>, on any camera.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Evidence-first</a:t>
            </a:r>
            <a:r>
              <a:rPr sz="1350" b="0">
                <a:solidFill>
                  <a:srgbClr val="0F172A"/>
                </a:solidFill>
                <a:latin typeface="Segoe UI"/>
              </a:rPr>
              <a:t>: every fine carries a stamped photo and plate crop.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Engineered to refuse</a:t>
            </a:r>
            <a:r>
              <a:rPr sz="1350" b="0">
                <a:solidFill>
                  <a:srgbClr val="0F172A"/>
                </a:solidFill>
                <a:latin typeface="Segoe UI"/>
              </a:rPr>
              <a:t> - it reports only what it can prove.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Runs on cameras that already exist</a:t>
            </a:r>
            <a:r>
              <a:rPr sz="1350" b="0">
                <a:solidFill>
                  <a:srgbClr val="0F172A"/>
                </a:solidFill>
                <a:latin typeface="Segoe UI"/>
              </a:rPr>
              <a:t>, on a laptop CPU.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TARGET USERS AND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Who it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Primary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Sri Lanka Police traffic division</a:t>
            </a:r>
            <a:r>
              <a:rPr sz="1350" b="0">
                <a:solidFill>
                  <a:srgbClr val="0F172A"/>
                </a:solidFill>
                <a:latin typeface="Segoe UI"/>
              </a:rPr>
              <a:t> - automated enforcement on existing junction cameras.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Road Development Authority and municipal councils</a:t>
            </a:r>
            <a:r>
              <a:rPr sz="1350" b="0">
                <a:solidFill>
                  <a:srgbClr val="0F172A"/>
                </a:solidFill>
                <a:latin typeface="Segoe UI"/>
              </a:rPr>
              <a:t> - highway corridors, school and hospital zones.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Commercial fleet operators</a:t>
            </a:r>
            <a:r>
              <a:rPr sz="1350" b="0">
                <a:solidFill>
                  <a:srgbClr val="0F172A"/>
                </a:solidFill>
                <a:latin typeface="Segoe UI"/>
              </a:rPr>
              <a:t> - seatbelt and fatigue compliance for buses and lorries.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Why they buy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Enforcement reach without hiring proportionally more officers.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Evidence that survives dispute, so fines are actually collected.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Data on where violations concentrate, to target scarce resources.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Fleet operators cut insurance exposure and liability.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Entry point: a single pilot junction. Expansion: corridor, then city.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IT SUSTAINS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Pilot deployment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9568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One-off setup and calibration per camera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9008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Annual software licence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00837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Per-camera subscription covering updates and model improvements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41648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Support and analytics 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05993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Dashboards, reporting and repeat-offender analytics for authorities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983479"/>
            <a:ext cx="1060704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093207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E7490"/>
                </a:solidFill>
                <a:latin typeface="Segoe UI"/>
              </a:rPr>
              <a:t>Fleet compliance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111495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Per-vehicle monitoring sold to commercial 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172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45309"/>
                </a:solidFill>
                <a:latin typeface="Segoe UI"/>
              </a:rPr>
              <a:t>Cost advantage: no new cameras and no per-site hardware, so a pilot is software and calibration only.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ECONOMIC, SOCIAL, ENVIRONMENTAL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Economically self-sustaining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Runs on </a:t>
            </a:r>
            <a:r>
              <a:rPr sz="1350" b="1">
                <a:solidFill>
                  <a:srgbClr val="0F172A"/>
                </a:solidFill>
                <a:latin typeface="Segoe UI"/>
              </a:rPr>
              <a:t>infrastructure already paid for</a:t>
            </a:r>
            <a:r>
              <a:rPr sz="1350" b="0">
                <a:solidFill>
                  <a:srgbClr val="0F172A"/>
                </a:solidFill>
                <a:latin typeface="Segoe U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One laptop starts a pilot; no civil works, no gantries.</a:t>
            </a:r>
          </a:p>
          <a:p>
            <a:pPr algn="l">
              <a:spcAft>
                <a:spcPts val="10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Recovered fines fund expansion without new capital.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828800"/>
            <a:ext cx="5212080" cy="3931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20299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490"/>
                </a:solidFill>
                <a:latin typeface="Segoe UI"/>
              </a:rPr>
              <a:t>Socially and environmentally sound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260604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Fairness</a:t>
            </a:r>
            <a:r>
              <a:rPr sz="1350" b="0">
                <a:solidFill>
                  <a:srgbClr val="0F172A"/>
                </a:solidFill>
                <a:latin typeface="Segoe UI"/>
              </a:rPr>
              <a:t>: identical rules for every driver, no discretion.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Fewer deaths</a:t>
            </a:r>
            <a:r>
              <a:rPr sz="1350" b="0">
                <a:solidFill>
                  <a:srgbClr val="0F172A"/>
                </a:solidFill>
                <a:latin typeface="Segoe UI"/>
              </a:rPr>
              <a:t> through deterrence, not punishment.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Lower emissions</a:t>
            </a:r>
            <a:r>
              <a:rPr sz="1350" b="0">
                <a:solidFill>
                  <a:srgbClr val="0F172A"/>
                </a:solidFill>
                <a:latin typeface="Segoe UI"/>
              </a:rPr>
              <a:t> - smoother traffic, fewer crash-related jams.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Privacy-respecting</a:t>
            </a:r>
            <a:r>
              <a:rPr sz="1350" b="0">
                <a:solidFill>
                  <a:srgbClr val="0F172A"/>
                </a:solidFill>
                <a:latin typeface="Segoe UI"/>
              </a:rPr>
              <a:t>: plates confirmed three times or marked unreadable; no identity inference.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WHERE THIS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Scalability and future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874519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Working system, 85 tests, verified on real Sri Lankan road footage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Next 3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715768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Live pilot at one signalised junction with police partnership; night and rain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57015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6-12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557015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Corridor deployment on GPU edge boxes; a trained three-wheeler class for local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9826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Beyond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398264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City-wide multi-camera dashboard; export to comparable South Asian markets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257800"/>
            <a:ext cx="1060704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The accuracy ceiling is compute, not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7900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0F172A"/>
                </a:solidFill>
                <a:latin typeface="Segoe UI"/>
              </a:rPr>
              <a:t>Today we run </a:t>
            </a:r>
            <a:r>
              <a:rPr sz="1250" b="1">
                <a:solidFill>
                  <a:srgbClr val="0F172A"/>
                </a:solidFill>
                <a:latin typeface="Segoe UI"/>
              </a:rPr>
              <a:t>YOLOv8s on a laptop CPU</a:t>
            </a:r>
            <a:r>
              <a:rPr sz="1250" b="0">
                <a:solidFill>
                  <a:srgbClr val="0F172A"/>
                </a:solidFill>
                <a:latin typeface="Segoe UI"/>
              </a:rPr>
              <a:t> - chosen because it fits, not because it is the best available. The detector is one swappable file: on GPU hardware the same pipeline takes </a:t>
            </a:r>
            <a:r>
              <a:rPr sz="1250" b="1">
                <a:solidFill>
                  <a:srgbClr val="0F172A"/>
                </a:solidFill>
                <a:latin typeface="Segoe UI"/>
              </a:rPr>
              <a:t>YOLO11x, RT-DETR or DINO</a:t>
            </a:r>
            <a:r>
              <a:rPr sz="1250" b="0">
                <a:solidFill>
                  <a:srgbClr val="0F172A"/>
                </a:solidFill>
                <a:latin typeface="Segoe UI"/>
              </a:rPr>
              <a:t> with no change to a single rule.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TECHNICAL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more compute buys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5B6B84"/>
                </a:solidFill>
                <a:latin typeface="Segoe UI"/>
              </a:rPr>
              <a:t>We benchmarked five detectors on our own footage. Every rule sits on one detector interface, so upgrading is a file swap, not a rewrite.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106070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0428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Laptop CPU  (today)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30428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YOLOv8s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2.5 analysed frames/sec. We measured yolo11m finding 32% more riders per frame - but running 3.6x slower, so it sees fewer frames and delivers LESS. On CPU, yolov8s wins.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46120"/>
            <a:ext cx="106070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5584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GPU edge box  (pilot)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5584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YOLO11m / YOLO11x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3375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Frame dropping disappears, so raw recall wins instead of speed. The same measurement now ranks yolo11m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97679"/>
            <a:ext cx="106070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07407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Server GPU  (city scale)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07407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RT-DETR, DINO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38911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Transformer detectors handle dense, overlapping traffic far better - exactly our junctions at rush hour.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4589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Open-vocabulary  (research)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4589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Grounding DINO, VLMs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440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Describe a new violation in words instead of collecting and labelling a dataset for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46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The hard part - the rules that refuse to guess - is the part that does not need replacing.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Safer roads, proven by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490"/>
                </a:solidFill>
                <a:latin typeface="Segoe UI"/>
              </a:rPr>
              <a:t>Real speed. Verified plates. Automatic challans, with the photograph attached.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On cameras this country already owns.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Segoe UI"/>
              </a:rPr>
              <a:t>Thank you. We are happy to take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Team Three Hacks  |  github.com/Jeba-Jebarsan/AI-SMART-TRAFFIC-INTELLIGENCE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